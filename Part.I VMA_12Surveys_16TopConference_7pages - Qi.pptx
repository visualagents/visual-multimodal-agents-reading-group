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11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902" y="855745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760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Q1: What is a visual multimodal agent?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1943099"/>
            <a:ext cx="1125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agent is not just a VLM: it closes a loop between visual observation, internal reasoning, and executable action.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9620" y="3170500"/>
            <a:ext cx="1524000" cy="1779631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screens, images, video, robot state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3891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17520" y="3133925"/>
            <a:ext cx="1737360" cy="1816205"/>
          </a:xfrm>
          <a:prstGeom prst="rect">
            <a:avLst/>
          </a:prstGeom>
          <a:solidFill>
            <a:srgbClr val="CCFBF1"/>
          </a:solidFill>
          <a:ln>
            <a:solidFill>
              <a:srgbClr val="CCFBF1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vision-language tokens, states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3891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57800" y="3133925"/>
            <a:ext cx="1737360" cy="1816206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plan, decompose, decide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86600" y="3891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98080" y="3133925"/>
            <a:ext cx="1737360" cy="1816206"/>
          </a:xfrm>
          <a:prstGeom prst="rect">
            <a:avLst/>
          </a:prstGeom>
          <a:solidFill>
            <a:srgbClr val="FFEDD5"/>
          </a:solidFill>
          <a:ln>
            <a:solidFill>
              <a:srgbClr val="FFEDD5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click, type, navigate, control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26880" y="3891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738360" y="3133925"/>
            <a:ext cx="1737360" cy="1816206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feedback, memory, post-training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" y="5674613"/>
            <a:ext cx="1097280" cy="640061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thesis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65960" y="5638038"/>
            <a:ext cx="9723120" cy="1169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field is moving from static visual understanding to interactive task completion under uncertainty.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02920" y="651967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Multimodal Agents literature synthesis · 12 surveys + 16 NeurIPS/ICML/ICLR papers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51967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760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Q2: What is the organization through the 28 papers?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surveys for taxonomy, then read the top-conference papers by capability rather than by venue.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2542032"/>
            <a:ext cx="2011680" cy="713232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Map the field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53512" y="2606040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agent surveys + multimodal-agent surveys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modules define an agent?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" y="3474720"/>
            <a:ext cx="2011680" cy="713232"/>
          </a:xfrm>
          <a:prstGeom prst="rect">
            <a:avLst/>
          </a:prstGeom>
          <a:solidFill>
            <a:srgbClr val="CCFBF1"/>
          </a:solidFill>
          <a:ln>
            <a:solidFill>
              <a:srgbClr val="CCFBF1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Study digital agents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53512" y="3538728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surveys → OS-ATLAS / Aguvis / GTA1 / Windows Agent Arena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0" y="3538728"/>
            <a:ext cx="36118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visual grounding become task execution?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" y="4407408"/>
            <a:ext cx="2011680" cy="713232"/>
          </a:xfrm>
          <a:prstGeom prst="rect">
            <a:avLst/>
          </a:prstGeom>
          <a:solidFill>
            <a:srgbClr val="FFEDD5"/>
          </a:solidFill>
          <a:ln>
            <a:solidFill>
              <a:srgbClr val="FFEDD5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Study embodied agents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53512" y="4471416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 surveys → UP-VLA / ThinkAct / X-VLA / Unified VLA / HAMLET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960" y="4471416"/>
            <a:ext cx="36118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perception become physical action?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" y="5340096"/>
            <a:ext cx="2011680" cy="713232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Close with evaluation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53512" y="5404104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benchmark survey + LLM-agent evaluation survey + Agent-X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80960" y="5404104"/>
            <a:ext cx="36118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measure real agent competence?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Multimodal Agents literature synthesis · 12 surveys + 16 NeurIPS/ICML/ICLR papers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760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Q3: Where are the 2025–2026 top-conference papers concentrated?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02868"/>
            <a:ext cx="11210544" cy="795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the 16-paper NeurIPS / ICML / ICLR set, ICLR dominates; GUI/OS and VLA are the two densest hotspots.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279904"/>
            <a:ext cx="1325880" cy="292608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 × year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28194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ICLR 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95728" y="2837688"/>
            <a:ext cx="1907177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28194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32766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ICML 2025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95728" y="3294888"/>
            <a:ext cx="1430383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9592" y="32766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37338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NeurIPS 2025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95728" y="3752088"/>
            <a:ext cx="953589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9592" y="37338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41910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ICLR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95728" y="4209288"/>
            <a:ext cx="333756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41910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45936" y="2279904"/>
            <a:ext cx="1325880" cy="292608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density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45936" y="28194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 / embodied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37576" y="2837688"/>
            <a:ext cx="3246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0" y="28194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45936" y="32766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/ 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37576" y="3294888"/>
            <a:ext cx="2318657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0" y="32766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45936" y="37338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/ planning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37576" y="3752088"/>
            <a:ext cx="927463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0" y="37338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45936" y="41910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37576" y="4209288"/>
            <a:ext cx="927463" cy="2377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30000" y="41910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45936" y="464820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use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37576" y="4666488"/>
            <a:ext cx="463731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0" y="4648200"/>
            <a:ext cx="365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5330952"/>
            <a:ext cx="11155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the method papers are no longer only about perception. They concentrate on grounding, test-time scaling, world models, memory, instruction tuning, and realistic agent evaluation.</a:t>
            </a:r>
            <a:endParaRPr lang="en-US" sz="2200" b="1" dirty="0"/>
          </a:p>
        </p:txBody>
      </p:sp>
      <p:sp>
        <p:nvSpPr>
          <p:cNvPr id="38" name="Text 36"/>
          <p:cNvSpPr/>
          <p:nvPr/>
        </p:nvSpPr>
        <p:spPr>
          <a:xfrm>
            <a:off x="502920" y="651967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Multimodal Agents literature synthesis · 12 surveys + 16 NeurIPS/ICML/ICLR papers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292840" y="651967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4/8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760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surveys provide the conceptual 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Surveys: </a:t>
            </a: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broad, taxonomy-driven, and environment-oriented.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2084832" cy="502920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" y="2770632"/>
            <a:ext cx="1993392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Autonomous Agents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Survey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98648" y="2057400"/>
            <a:ext cx="2084832" cy="502920"/>
          </a:xfrm>
          <a:prstGeom prst="rect">
            <a:avLst/>
          </a:prstGeom>
          <a:solidFill>
            <a:srgbClr val="CCFBF1"/>
          </a:solidFill>
          <a:ln>
            <a:solidFill>
              <a:srgbClr val="CCFBF1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/ OS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44368" y="2770632"/>
            <a:ext cx="1993392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LLM-Brained GUI Agents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Agents: A Survey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(M)LLM-Based GUI Agents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Benchmark Survey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38928" y="2057400"/>
            <a:ext cx="2084832" cy="502920"/>
          </a:xfrm>
          <a:prstGeom prst="rect">
            <a:avLst/>
          </a:prstGeom>
          <a:solidFill>
            <a:srgbClr val="FFEDD5"/>
          </a:solidFill>
          <a:ln>
            <a:solidFill>
              <a:srgbClr val="FFEDD5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Embodied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84648" y="2770632"/>
            <a:ext cx="1993392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 for Embodied AI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 Concepts &amp; Progress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 for Robotics Review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79208" y="2057400"/>
            <a:ext cx="2084832" cy="502920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24928" y="2770632"/>
            <a:ext cx="1993392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MLLM Survey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Multimodal Agents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19488" y="2057400"/>
            <a:ext cx="2084832" cy="502920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65208" y="2770632"/>
            <a:ext cx="1993392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&amp; Benchmarking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LLM Agents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5586984"/>
            <a:ext cx="1417320" cy="704088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taxonomy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286000" y="5559552"/>
            <a:ext cx="90525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/ role  ·  perception  ·  memory  ·  planning  ·  tool or action execution  ·  feedback  ·  evaluation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Multimodal Agents literature synthesis · 12 surveys + 16 NeurIPS/ICML/ICLR papers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51967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760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How are GUI agents progressing?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11155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GUI-agent line is shifting from “find the UI element” to “complete the task reliably under changing interface states.”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" y="2606548"/>
            <a:ext cx="1170432" cy="601472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20824" y="2579116"/>
            <a:ext cx="8915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action space → pure visual grounding → autonomous GUI policy → realistic OS-scale benchmark → test-time search/RL for execution.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" y="4033519"/>
            <a:ext cx="1170432" cy="60147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focus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20824" y="3996943"/>
            <a:ext cx="89154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does the paper improve perception, planning, action execution, or evaluation? GUI-agent gains often come from matching all four.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8952" y="5687568"/>
            <a:ext cx="104241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survey anchors: LLM-Brained GUI Agents; GUI Agents: A Survey; (M)LLM-Based GUI Agents; GUI Benchmark Survey.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Multimodal Agents literature synthesis · 12 surveys + 16 NeurIPS/ICML/ICLR papers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760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How are VLA agents progressing?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VLA line is moving from action prediction toward models that encode dynamics, history, embodiment, and instruction-following.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209801"/>
            <a:ext cx="1532281" cy="1436624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understanding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prediction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UP-VLA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95144" y="3535681"/>
            <a:ext cx="1532281" cy="1436624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before acting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04488" y="2209801"/>
            <a:ext cx="1532281" cy="1436624"/>
          </a:xfrm>
          <a:prstGeom prst="rect">
            <a:avLst/>
          </a:prstGeom>
          <a:solidFill>
            <a:srgbClr val="CCFBF1"/>
          </a:solidFill>
          <a:ln>
            <a:solidFill>
              <a:srgbClr val="CCFBF1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Spatiotemporal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pretraining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4D-VLA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13832" y="3535681"/>
            <a:ext cx="1532281" cy="1436624"/>
          </a:xfrm>
          <a:prstGeom prst="rect">
            <a:avLst/>
          </a:prstGeom>
          <a:solidFill>
            <a:srgbClr val="FFEDD5"/>
          </a:solidFill>
          <a:ln>
            <a:solidFill>
              <a:srgbClr val="FFEDD5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Cross-embodiment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X-VLA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23176" y="2209801"/>
            <a:ext cx="1532281" cy="1436624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 tuning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VLA-IT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32520" y="3535681"/>
            <a:ext cx="1532281" cy="1436624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multimodal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modeling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VLA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41864" y="2209801"/>
            <a:ext cx="1532281" cy="1436624"/>
          </a:xfrm>
          <a:prstGeom prst="rect">
            <a:avLst/>
          </a:prstGeom>
          <a:solidFill>
            <a:srgbClr val="FFEDD5"/>
          </a:solidFill>
          <a:ln>
            <a:solidFill>
              <a:srgbClr val="FFEDD5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History-aware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HAMLET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8027" y="5285232"/>
            <a:ext cx="1380744" cy="914400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99639" y="5224272"/>
            <a:ext cx="932688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 agents increasingly require three non-static ingredients: a predictive world model, memory over interaction history, and scalable adaptation across robot embodiments.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Multimodal Agents literature synthesis · 12 surveys + 16 NeurIPS/ICML/ICLR papers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760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</a:t>
            </a: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evaluation difficult?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evaluation must judge process and outcome: not only whether the answer is right, but whether the agent acted correctly.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" y="2215133"/>
            <a:ext cx="1920240" cy="500634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task metrics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2215133"/>
            <a:ext cx="1920240" cy="500634"/>
          </a:xfrm>
          <a:prstGeom prst="rect">
            <a:avLst/>
          </a:prstGeom>
          <a:solidFill>
            <a:srgbClr val="FFEDD5"/>
          </a:solidFill>
          <a:ln>
            <a:solidFill>
              <a:srgbClr val="FFEDD5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success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98280" y="2215133"/>
            <a:ext cx="1920240" cy="530352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generalization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" y="2855213"/>
            <a:ext cx="2103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Accuracy, grounding IoU, final answer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09160" y="2855213"/>
            <a:ext cx="25603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completion, step efficiency, recovery, safety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23960" y="2855213"/>
            <a:ext cx="25603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screens, unseen tools, new embodiments, long horizons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8680" y="3904487"/>
            <a:ext cx="10378440" cy="121615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papers: </a:t>
            </a:r>
          </a:p>
          <a:p>
            <a:pPr marL="0" indent="0">
              <a:buNone/>
            </a:pPr>
            <a:endParaRPr lang="en-US" dirty="0">
              <a:solidFill>
                <a:srgbClr val="1E293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Agent-X evaluates deep multimodal reasoning in vision-centric agentic tasks; 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Windows Agent Arena stress-tests OS agents; 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 Visual Agents as Fast and Slow Thinkers and Visual Planning examine adaptive reasoning pathways.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5408676"/>
            <a:ext cx="1353312" cy="640080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shift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57500" y="5390388"/>
            <a:ext cx="8915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benchmark snapshots to environment-level protocols that expose planning failures, action errors, and state recovery.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Multimodal Agents literature synthesis · 12 surveys + 16 NeurIPS/ICML/ICLR papers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850</Words>
  <Application>Microsoft Office PowerPoint</Application>
  <PresentationFormat>宽屏</PresentationFormat>
  <Paragraphs>155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Multimodal Agents: 12 Surveys + 16 Top-Conference Papers</dc:title>
  <dc:subject>Visual Multimodal Agents literature summary</dc:subject>
  <dc:creator>OpenAI</dc:creator>
  <cp:lastModifiedBy>奇 毕</cp:lastModifiedBy>
  <cp:revision>16</cp:revision>
  <dcterms:created xsi:type="dcterms:W3CDTF">2026-07-06T06:53:33Z</dcterms:created>
  <dcterms:modified xsi:type="dcterms:W3CDTF">2026-07-06T09:59:49Z</dcterms:modified>
</cp:coreProperties>
</file>
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336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DC2C6-CC8B-34DD-054F-81720AF97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8FBB8-DA19-FF9B-8BFF-AB05DC8B10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3FC5DD-F0FE-5932-E3C3-B15304BC3C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3086CA-2D5C-F7E5-9684-A640A72C43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425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4A255-BFDF-7377-1D5E-301343DAC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06990-0510-ECE3-2B14-1136F55663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211002-F901-2FA6-8F38-C2C68DE31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3803D-27E4-1DEB-5E12-E6200A816E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30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4E5F2-312C-68D9-EA5A-BD2530C2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64784-93F7-C23B-164B-7B82E5AB1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71DD6-60A0-E47F-8D05-E0F73016A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46CE4-8690-13F8-6C5F-C293DAAB27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54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4C323-06BD-C7EB-7DFE-F8CFDAEBD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268151-2054-F445-2884-2509E1E11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C62D16-33EB-545D-047C-847314877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2B400C-433B-8D30-2366-A0E77FF30E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354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03E13-212D-59CB-67D2-EE0BF6159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12A572-E115-B335-9058-D4FDBDAC19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ABA2D-2D37-C76E-3797-FFF6BDC129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7D066-DDDB-72E4-A639-101C122D6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0216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F1A6A-8620-FFD7-4767-A2B4B6F66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4F34CD-3202-4B70-7636-68892097D7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59527-0877-D34F-3119-831F77F1E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2BC4AA-1822-A721-ACEE-75023E2A93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82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ean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0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3400" b="1" dirty="0">
                <a:solidFill>
                  <a:srgbClr val="172033"/>
                </a:solidFill>
                <a:latin typeface="Aptos Display" pitchFamily="34" charset="0"/>
              </a:rPr>
              <a:t>UP-VLA: A Unified Understanding and Prediction Model for Embodied Agent </a:t>
            </a:r>
          </a:p>
        </p:txBody>
      </p:sp>
      <p:sp>
        <p:nvSpPr>
          <p:cNvPr id="4" name="Text 2"/>
          <p:cNvSpPr/>
          <p:nvPr/>
        </p:nvSpPr>
        <p:spPr>
          <a:xfrm>
            <a:off x="502919" y="1827078"/>
            <a:ext cx="4575856" cy="38359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Motivation</a:t>
            </a:r>
            <a:r>
              <a:rPr lang="en-GB" dirty="0">
                <a:solidFill>
                  <a:srgbClr val="172033"/>
                </a:solidFill>
              </a:rPr>
              <a:t>: recent VLA models leverage VLMs, which </a:t>
            </a:r>
            <a:r>
              <a:rPr lang="en-GB" dirty="0"/>
              <a:t>focus on </a:t>
            </a:r>
            <a:r>
              <a:rPr lang="en-GB" dirty="0">
                <a:solidFill>
                  <a:srgbClr val="92D050"/>
                </a:solidFill>
              </a:rPr>
              <a:t>high-level semantic</a:t>
            </a:r>
            <a:r>
              <a:rPr lang="en-GB" dirty="0"/>
              <a:t> content and neglect </a:t>
            </a:r>
            <a:r>
              <a:rPr lang="en-GB" dirty="0">
                <a:solidFill>
                  <a:srgbClr val="FF0000"/>
                </a:solidFill>
              </a:rPr>
              <a:t>low-level features</a:t>
            </a:r>
            <a:r>
              <a:rPr lang="en-GB" dirty="0"/>
              <a:t>, limiting their ability to capture detailed visual and spatial information. 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US" b="1" dirty="0">
                <a:solidFill>
                  <a:srgbClr val="172033"/>
                </a:solidFill>
              </a:rPr>
              <a:t>What to unify and why</a:t>
            </a:r>
            <a:r>
              <a:rPr lang="en-US" dirty="0">
                <a:solidFill>
                  <a:srgbClr val="172033"/>
                </a:solidFill>
              </a:rPr>
              <a:t>: </a:t>
            </a:r>
            <a:r>
              <a:rPr lang="en-GB" dirty="0"/>
              <a:t>a </a:t>
            </a:r>
            <a:r>
              <a:rPr lang="en-GB" b="1" dirty="0"/>
              <a:t>U</a:t>
            </a:r>
            <a:r>
              <a:rPr lang="en-GB" dirty="0"/>
              <a:t>nified VLA model training with both </a:t>
            </a:r>
            <a:r>
              <a:rPr lang="en-GB" i="1" dirty="0"/>
              <a:t>multi-modal </a:t>
            </a:r>
            <a:r>
              <a:rPr lang="en-GB" b="1" i="1" dirty="0"/>
              <a:t>U</a:t>
            </a:r>
            <a:r>
              <a:rPr lang="en-GB" i="1" dirty="0"/>
              <a:t>nderstanding </a:t>
            </a:r>
            <a:r>
              <a:rPr lang="en-GB" dirty="0"/>
              <a:t>and </a:t>
            </a:r>
            <a:r>
              <a:rPr lang="en-GB" i="1" dirty="0"/>
              <a:t>future </a:t>
            </a:r>
            <a:r>
              <a:rPr lang="en-GB" b="1" i="1" dirty="0"/>
              <a:t>P</a:t>
            </a:r>
            <a:r>
              <a:rPr lang="en-GB" i="1" dirty="0"/>
              <a:t>rediction </a:t>
            </a:r>
            <a:r>
              <a:rPr lang="en-GB" dirty="0"/>
              <a:t>objectives, enhancing both </a:t>
            </a:r>
            <a:r>
              <a:rPr lang="en-GB" dirty="0">
                <a:solidFill>
                  <a:srgbClr val="92D050"/>
                </a:solidFill>
              </a:rPr>
              <a:t>high-level semantic</a:t>
            </a:r>
            <a:r>
              <a:rPr lang="en-GB" dirty="0"/>
              <a:t> comprehension and </a:t>
            </a:r>
            <a:r>
              <a:rPr lang="en-GB" dirty="0">
                <a:solidFill>
                  <a:srgbClr val="92D050"/>
                </a:solidFill>
              </a:rPr>
              <a:t>low-level spatial understanding</a:t>
            </a:r>
            <a:r>
              <a:rPr lang="en-GB" dirty="0"/>
              <a:t>. </a:t>
            </a:r>
          </a:p>
        </p:txBody>
      </p:sp>
      <p:sp>
        <p:nvSpPr>
          <p:cNvPr id="10" name="Text 7"/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C317C04D-12F1-6471-9678-8E39BB0F292C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755B4C-70E1-8AC6-B40E-E6220D48FA7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16275" y="1493245"/>
            <a:ext cx="6272805" cy="416804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91042-A8DA-EEAD-4C3B-99DA0CA14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041C2C2-799D-CA44-588E-8C71244D0EC9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3400" b="1" dirty="0">
                <a:solidFill>
                  <a:srgbClr val="172033"/>
                </a:solidFill>
                <a:latin typeface="Aptos Display" pitchFamily="34" charset="0"/>
              </a:rPr>
              <a:t>VLM-based model, Prediction-based model vs. UP-VLA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3CED78-04AD-D4CB-E714-6D50DB2CA638}"/>
              </a:ext>
            </a:extLst>
          </p:cNvPr>
          <p:cNvSpPr/>
          <p:nvPr/>
        </p:nvSpPr>
        <p:spPr>
          <a:xfrm>
            <a:off x="630936" y="1828800"/>
            <a:ext cx="4641959" cy="3835936"/>
          </a:xfrm>
          <a:prstGeom prst="rect">
            <a:avLst/>
          </a:prstGeom>
          <a:noFill/>
          <a:ln w="12700">
            <a:noFill/>
          </a:ln>
        </p:spPr>
        <p:txBody>
          <a:bodyPr wrap="square" lIns="2286" tIns="2286" rIns="2286" bIns="2286" rtlCol="0" anchor="ctr">
            <a:no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VLM</a:t>
            </a:r>
            <a:r>
              <a:rPr lang="en-US" altLang="zh-CN" b="1" dirty="0">
                <a:solidFill>
                  <a:srgbClr val="172033"/>
                </a:solidFill>
              </a:rPr>
              <a:t>-based</a:t>
            </a:r>
            <a:r>
              <a:rPr lang="zh-CN" altLang="en-US" b="1" dirty="0">
                <a:solidFill>
                  <a:srgbClr val="172033"/>
                </a:solidFill>
              </a:rPr>
              <a:t> </a:t>
            </a:r>
            <a:r>
              <a:rPr lang="en-US" altLang="zh-CN" b="1" dirty="0">
                <a:solidFill>
                  <a:srgbClr val="172033"/>
                </a:solidFill>
              </a:rPr>
              <a:t>model</a:t>
            </a:r>
            <a:r>
              <a:rPr lang="en-GB" dirty="0">
                <a:solidFill>
                  <a:srgbClr val="172033"/>
                </a:solidFill>
              </a:rPr>
              <a:t>:</a:t>
            </a:r>
          </a:p>
          <a:p>
            <a:r>
              <a:rPr lang="en-GB" dirty="0">
                <a:solidFill>
                  <a:srgbClr val="172033"/>
                </a:solidFill>
              </a:rPr>
              <a:t>✅</a:t>
            </a:r>
            <a:r>
              <a:rPr lang="zh-CN" altLang="en-US" dirty="0">
                <a:solidFill>
                  <a:srgbClr val="172033"/>
                </a:solidFill>
              </a:rPr>
              <a:t> </a:t>
            </a:r>
            <a:r>
              <a:rPr lang="en-GB" dirty="0"/>
              <a:t>in-distribution multitask settings</a:t>
            </a:r>
          </a:p>
          <a:p>
            <a:r>
              <a:rPr lang="en-GB" dirty="0"/>
              <a:t>✅</a:t>
            </a:r>
            <a:r>
              <a:rPr lang="zh-CN" altLang="en-US" dirty="0"/>
              <a:t> </a:t>
            </a:r>
            <a:r>
              <a:rPr lang="en-GB" dirty="0"/>
              <a:t>real-world generalization task</a:t>
            </a:r>
            <a:endParaRPr lang="en-GB" dirty="0">
              <a:solidFill>
                <a:srgbClr val="172033"/>
              </a:solidFill>
            </a:endParaRPr>
          </a:p>
          <a:p>
            <a:r>
              <a:rPr lang="en-GB" dirty="0"/>
              <a:t>❌</a:t>
            </a:r>
            <a:r>
              <a:rPr lang="zh-CN" altLang="en-US" dirty="0"/>
              <a:t> </a:t>
            </a:r>
            <a:r>
              <a:rPr lang="en-GB" dirty="0"/>
              <a:t>adaptation and precise control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b="1" dirty="0">
                <a:solidFill>
                  <a:srgbClr val="172033"/>
                </a:solidFill>
              </a:rPr>
              <a:t>Prediction</a:t>
            </a:r>
            <a:r>
              <a:rPr lang="en-US" altLang="zh-CN" b="1" dirty="0">
                <a:solidFill>
                  <a:srgbClr val="172033"/>
                </a:solidFill>
              </a:rPr>
              <a:t>-based</a:t>
            </a:r>
            <a:r>
              <a:rPr lang="zh-CN" altLang="en-US" b="1" dirty="0">
                <a:solidFill>
                  <a:srgbClr val="172033"/>
                </a:solidFill>
              </a:rPr>
              <a:t> </a:t>
            </a:r>
            <a:r>
              <a:rPr lang="en-US" altLang="zh-CN" b="1" dirty="0">
                <a:solidFill>
                  <a:srgbClr val="172033"/>
                </a:solidFill>
              </a:rPr>
              <a:t>model (World model)</a:t>
            </a:r>
            <a:r>
              <a:rPr lang="en-GB" dirty="0">
                <a:solidFill>
                  <a:srgbClr val="172033"/>
                </a:solidFill>
              </a:rPr>
              <a:t>:</a:t>
            </a:r>
          </a:p>
          <a:p>
            <a:r>
              <a:rPr lang="en-GB" dirty="0"/>
              <a:t>⬆️</a:t>
            </a:r>
            <a:r>
              <a:rPr lang="zh-CN" altLang="en-US" dirty="0"/>
              <a:t> </a:t>
            </a:r>
            <a:r>
              <a:rPr lang="en-GB" dirty="0"/>
              <a:t>adaptation and precise control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US" b="1" dirty="0">
                <a:solidFill>
                  <a:srgbClr val="172033"/>
                </a:solidFill>
              </a:rPr>
              <a:t>UP-VLA</a:t>
            </a:r>
            <a:r>
              <a:rPr lang="en-US" dirty="0">
                <a:solidFill>
                  <a:srgbClr val="172033"/>
                </a:solidFill>
              </a:rPr>
              <a:t>:</a:t>
            </a:r>
          </a:p>
          <a:p>
            <a:r>
              <a:rPr lang="en-GB" dirty="0">
                <a:solidFill>
                  <a:srgbClr val="172033"/>
                </a:solidFill>
              </a:rPr>
              <a:t>✅</a:t>
            </a:r>
            <a:r>
              <a:rPr lang="zh-CN" altLang="en-US" dirty="0">
                <a:solidFill>
                  <a:srgbClr val="172033"/>
                </a:solidFill>
              </a:rPr>
              <a:t> </a:t>
            </a:r>
            <a:r>
              <a:rPr lang="en-GB" dirty="0"/>
              <a:t>in-distribution multitask settings</a:t>
            </a:r>
          </a:p>
          <a:p>
            <a:r>
              <a:rPr lang="en-GB" dirty="0"/>
              <a:t>✅</a:t>
            </a:r>
            <a:r>
              <a:rPr lang="zh-CN" altLang="en-US" dirty="0"/>
              <a:t> </a:t>
            </a:r>
            <a:r>
              <a:rPr lang="en-GB" dirty="0"/>
              <a:t>real-world generalization task</a:t>
            </a:r>
            <a:endParaRPr lang="en-GB" dirty="0">
              <a:solidFill>
                <a:srgbClr val="172033"/>
              </a:solidFill>
            </a:endParaRPr>
          </a:p>
          <a:p>
            <a:r>
              <a:rPr lang="en-GB" dirty="0"/>
              <a:t>✅</a:t>
            </a:r>
            <a:r>
              <a:rPr lang="zh-CN" altLang="en-US" dirty="0"/>
              <a:t> </a:t>
            </a:r>
            <a:r>
              <a:rPr lang="en-GB" dirty="0"/>
              <a:t>adaptation and precise control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7ED7BCE-163C-BEA7-432D-1655E988A5C7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F918982E-3B9C-2EEA-C20E-BC72F1F27C42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783458-0295-F4AE-1FBD-710DFD8E9B3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30844" y="1511032"/>
            <a:ext cx="5804001" cy="38359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EFDE251-6CD2-7BC9-B775-7E542A25FE40}"/>
              </a:ext>
            </a:extLst>
          </p:cNvPr>
          <p:cNvSpPr txBox="1"/>
          <p:nvPr/>
        </p:nvSpPr>
        <p:spPr>
          <a:xfrm>
            <a:off x="6165588" y="5451045"/>
            <a:ext cx="564082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ABCD→D</a:t>
            </a:r>
            <a:r>
              <a:rPr lang="en-US" sz="1400" b="1" dirty="0"/>
              <a:t>, Real Seen</a:t>
            </a:r>
            <a:r>
              <a:rPr lang="en-US" sz="1400" dirty="0"/>
              <a:t>: </a:t>
            </a:r>
            <a:r>
              <a:rPr lang="en-GB" sz="1400" dirty="0"/>
              <a:t>in-distribution multitask learning capabilities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ADF492-8599-3A00-A506-B4397DEEC670}"/>
              </a:ext>
            </a:extLst>
          </p:cNvPr>
          <p:cNvSpPr txBox="1"/>
          <p:nvPr/>
        </p:nvSpPr>
        <p:spPr>
          <a:xfrm>
            <a:off x="6165588" y="5739526"/>
            <a:ext cx="53692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>
                <a:effectLst/>
              </a:rPr>
              <a:t>Real unseen</a:t>
            </a:r>
            <a:r>
              <a:rPr lang="en-GB" sz="1400" dirty="0">
                <a:effectLst/>
              </a:rPr>
              <a:t>: real-world semantic generalization </a:t>
            </a:r>
            <a:endParaRPr lang="en-GB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007F6C-4545-00A3-B02B-181F9D639771}"/>
              </a:ext>
            </a:extLst>
          </p:cNvPr>
          <p:cNvSpPr txBox="1"/>
          <p:nvPr/>
        </p:nvSpPr>
        <p:spPr>
          <a:xfrm>
            <a:off x="6165588" y="6047303"/>
            <a:ext cx="53692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1" dirty="0"/>
              <a:t>ABC→D, Real Precise</a:t>
            </a:r>
            <a:r>
              <a:rPr lang="en-GB" sz="1400" dirty="0"/>
              <a:t>: adaptation and precise control abilities </a:t>
            </a:r>
          </a:p>
        </p:txBody>
      </p:sp>
    </p:spTree>
    <p:extLst>
      <p:ext uri="{BB962C8B-B14F-4D97-AF65-F5344CB8AC3E}">
        <p14:creationId xmlns:p14="http://schemas.microsoft.com/office/powerpoint/2010/main" val="2079892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1A02B-8A94-2A1B-07BB-DD6507DA6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F7BE39F-382C-D211-1F90-37FE9BDDB633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3400" b="1" dirty="0">
                <a:solidFill>
                  <a:srgbClr val="172033"/>
                </a:solidFill>
                <a:latin typeface="Aptos Display" pitchFamily="34" charset="0"/>
              </a:rPr>
              <a:t>UP-VLA framework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8EAD5AD-0BC8-91B2-F280-4EE6F94DD5D2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8BFC5333-BA05-11A9-160C-0233FCCC531E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C4AB0-30CD-7443-C713-268E5456FAD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17044" y="1505396"/>
            <a:ext cx="9357911" cy="33851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6A7F41-EF0D-1B9A-3C41-8CD3575B7316}"/>
              </a:ext>
            </a:extLst>
          </p:cNvPr>
          <p:cNvSpPr txBox="1"/>
          <p:nvPr/>
        </p:nvSpPr>
        <p:spPr>
          <a:xfrm>
            <a:off x="630936" y="4984000"/>
            <a:ext cx="3445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172033"/>
                </a:solidFill>
              </a:rPr>
              <a:t>• </a:t>
            </a:r>
            <a:r>
              <a:rPr lang="en-GB" sz="1600" b="1" dirty="0"/>
              <a:t>Multi-modal Understanding</a:t>
            </a:r>
            <a:r>
              <a:rPr lang="en-GB" sz="1600" dirty="0">
                <a:solidFill>
                  <a:srgbClr val="172033"/>
                </a:solidFill>
              </a:rPr>
              <a:t>:</a:t>
            </a:r>
          </a:p>
          <a:p>
            <a:r>
              <a:rPr lang="en-GB" sz="1600" dirty="0"/>
              <a:t>Given a paired image-text question-answering set (I,L):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3618D6-BC0F-4661-77F7-129B112A00C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02930" y="5814997"/>
            <a:ext cx="2255780" cy="39558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8F7D48-9DC1-9D45-5837-0B3A700E53D2}"/>
              </a:ext>
            </a:extLst>
          </p:cNvPr>
          <p:cNvSpPr txBox="1"/>
          <p:nvPr/>
        </p:nvSpPr>
        <p:spPr>
          <a:xfrm>
            <a:off x="4373347" y="4984000"/>
            <a:ext cx="344530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</a:t>
            </a:r>
            <a:r>
              <a:rPr lang="en-GB" sz="1600" b="1" dirty="0"/>
              <a:t>Future Visual Prediction</a:t>
            </a:r>
            <a:r>
              <a:rPr lang="en-GB" sz="1600" dirty="0"/>
              <a:t>:</a:t>
            </a:r>
          </a:p>
          <a:p>
            <a:r>
              <a:rPr lang="en-GB" sz="1600" dirty="0"/>
              <a:t>Given an image and instruction pair (Ot , L) at time t: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FAE27FC-9586-7721-D1C2-1EA106EAE2F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73820" y="5819560"/>
            <a:ext cx="2869602" cy="3910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F55A6FE-3B17-C025-163E-D4B9F82F2FA9}"/>
              </a:ext>
            </a:extLst>
          </p:cNvPr>
          <p:cNvSpPr txBox="1"/>
          <p:nvPr/>
        </p:nvSpPr>
        <p:spPr>
          <a:xfrm>
            <a:off x="8115759" y="4983999"/>
            <a:ext cx="35788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• </a:t>
            </a:r>
            <a:r>
              <a:rPr lang="en-GB" sz="1600" b="1" dirty="0"/>
              <a:t>Enhancing Action Learning with Joint Prediction and Understanding</a:t>
            </a:r>
            <a:r>
              <a:rPr lang="en-GB" sz="1600" dirty="0"/>
              <a:t>: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6784694-EDAB-5591-6687-65223CEFF10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52232" y="5586908"/>
            <a:ext cx="3772359" cy="3753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97DF5D-61BE-FD6C-6495-EAAFFFA8C611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06352" y="6027351"/>
            <a:ext cx="3464117" cy="36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26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B988E-F487-F886-29C1-1484475B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B0DFA6B-D667-0D54-E52B-A388046E2F57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GB" sz="3400" b="1" dirty="0">
                <a:solidFill>
                  <a:srgbClr val="172033"/>
                </a:solidFill>
                <a:latin typeface="Aptos Display" pitchFamily="34" charset="0"/>
              </a:rPr>
              <a:t>Implementation</a:t>
            </a:r>
            <a:r>
              <a:rPr lang="zh-CN" altLang="en-US" sz="3400" b="1" dirty="0">
                <a:solidFill>
                  <a:srgbClr val="172033"/>
                </a:solidFill>
                <a:latin typeface="Aptos Display" pitchFamily="34" charset="0"/>
              </a:rPr>
              <a:t> </a:t>
            </a:r>
            <a:r>
              <a:rPr lang="en-US" altLang="zh-CN" sz="3400" b="1" dirty="0">
                <a:solidFill>
                  <a:srgbClr val="172033"/>
                </a:solidFill>
                <a:latin typeface="Aptos Display" pitchFamily="34" charset="0"/>
              </a:rPr>
              <a:t>details</a:t>
            </a:r>
            <a:endParaRPr lang="en-GB" sz="3400" b="1" dirty="0">
              <a:solidFill>
                <a:srgbClr val="172033"/>
              </a:solidFill>
              <a:latin typeface="Aptos Display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5549DD-DF2F-915A-8DC1-33FC37BF7B0F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9207CB48-57F6-D868-E000-277FB2ED988F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r>
              <a:rPr lang="en-US" altLang="zh-CN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5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F416A-66E9-1010-0AA7-E2EED4EE7B1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74244" y="1484723"/>
            <a:ext cx="8443511" cy="33626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B1C2D6-19C6-F40F-9C7D-67EC388D6721}"/>
              </a:ext>
            </a:extLst>
          </p:cNvPr>
          <p:cNvSpPr txBox="1"/>
          <p:nvPr/>
        </p:nvSpPr>
        <p:spPr>
          <a:xfrm>
            <a:off x="411480" y="4924446"/>
            <a:ext cx="4160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Multi-modal Understanding</a:t>
            </a:r>
            <a:r>
              <a:rPr lang="en-US" sz="1600" b="1" dirty="0"/>
              <a:t>:</a:t>
            </a:r>
          </a:p>
          <a:p>
            <a:r>
              <a:rPr lang="en-US" sz="1600" dirty="0">
                <a:solidFill>
                  <a:srgbClr val="172033"/>
                </a:solidFill>
              </a:rPr>
              <a:t>• </a:t>
            </a:r>
            <a:r>
              <a:rPr lang="en-GB" sz="1600" dirty="0"/>
              <a:t>Continuous image token for better understanding</a:t>
            </a:r>
          </a:p>
          <a:p>
            <a:r>
              <a:rPr lang="en-US" sz="1600" dirty="0">
                <a:solidFill>
                  <a:srgbClr val="172033"/>
                </a:solidFill>
              </a:rPr>
              <a:t>• </a:t>
            </a:r>
            <a:r>
              <a:rPr lang="en-GB" sz="1600" dirty="0">
                <a:effectLst/>
              </a:rPr>
              <a:t>Image token before text token: </a:t>
            </a:r>
            <a:r>
              <a:rPr lang="en-GB" sz="1600" dirty="0"/>
              <a:t>focusing on the image while comprehending the language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2690AD-80C6-DF48-34E2-5300DF9E90DF}"/>
              </a:ext>
            </a:extLst>
          </p:cNvPr>
          <p:cNvSpPr txBox="1"/>
          <p:nvPr/>
        </p:nvSpPr>
        <p:spPr>
          <a:xfrm>
            <a:off x="4572000" y="4924446"/>
            <a:ext cx="39735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Future Visual Prediction</a:t>
            </a:r>
            <a:r>
              <a:rPr lang="en-US" sz="1600" b="1" dirty="0"/>
              <a:t>:</a:t>
            </a:r>
          </a:p>
          <a:p>
            <a:r>
              <a:rPr lang="en-US" sz="1600" dirty="0"/>
              <a:t>• </a:t>
            </a:r>
            <a:r>
              <a:rPr lang="en-GB" sz="1600" dirty="0"/>
              <a:t>Discrete image token for better image reconstruction.</a:t>
            </a:r>
          </a:p>
          <a:p>
            <a:r>
              <a:rPr lang="en-US" sz="1600" dirty="0"/>
              <a:t>• </a:t>
            </a:r>
            <a:r>
              <a:rPr lang="en-GB" sz="1600" dirty="0"/>
              <a:t>Image token after text token: enabling the image to attend to all input information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22F15-09EB-1A0D-6BEF-3B7AB3E5F65F}"/>
              </a:ext>
            </a:extLst>
          </p:cNvPr>
          <p:cNvSpPr txBox="1"/>
          <p:nvPr/>
        </p:nvSpPr>
        <p:spPr>
          <a:xfrm>
            <a:off x="8545508" y="4847328"/>
            <a:ext cx="33306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Jointly learning</a:t>
            </a:r>
            <a:r>
              <a:rPr lang="en-US" sz="1600" b="1" dirty="0"/>
              <a:t>:</a:t>
            </a:r>
          </a:p>
          <a:p>
            <a:r>
              <a:rPr lang="en-US" sz="1600" dirty="0"/>
              <a:t>• </a:t>
            </a:r>
            <a:r>
              <a:rPr lang="en-GB" sz="1600" dirty="0"/>
              <a:t>Tokens from both tasks are concatenated, allowing actions to attend to both high-level scene understanding and low-level visual information </a:t>
            </a:r>
          </a:p>
        </p:txBody>
      </p:sp>
    </p:spTree>
    <p:extLst>
      <p:ext uri="{BB962C8B-B14F-4D97-AF65-F5344CB8AC3E}">
        <p14:creationId xmlns:p14="http://schemas.microsoft.com/office/powerpoint/2010/main" val="154051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D01A5-2C65-CECB-5BA3-FF31083D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A710DA6-44E6-A6DC-745E-751BD47207BC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</a:rPr>
              <a:t>Simulation evaluation on Calvin benchmark</a:t>
            </a:r>
            <a:endParaRPr lang="en-GB" sz="3400" b="1" dirty="0">
              <a:solidFill>
                <a:srgbClr val="172033"/>
              </a:solidFill>
              <a:latin typeface="Aptos Display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7F7945F-B2AD-48AB-6481-61C7CB29B6B7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738EF7F5-7A86-30F9-9AFF-4D4974306DE2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4F63F0-50D4-EE7F-38E6-08507535A04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2342" y="1700854"/>
            <a:ext cx="7772400" cy="26998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2F7D7B-1424-CB09-CB84-6723A3FC780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2342" y="4571702"/>
            <a:ext cx="7772400" cy="14573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310E8C-4A93-BAC8-D17E-05D78F2FC64B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82487" y="1700854"/>
            <a:ext cx="2401084" cy="269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18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C14C1-A75B-4C4F-5B57-F2B507198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2F9CB5-A261-832B-B5C0-6B95159D6003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</a:rPr>
              <a:t>Real robot evaluation on </a:t>
            </a:r>
            <a:r>
              <a:rPr lang="en-GB" sz="3400" b="1" dirty="0">
                <a:solidFill>
                  <a:srgbClr val="172033"/>
                </a:solidFill>
                <a:latin typeface="Aptos Display" pitchFamily="34" charset="0"/>
              </a:rPr>
              <a:t>Franka-Emika Panda robot 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43DACA5B-5204-C979-9964-5DBA8BBA1041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BB60897C-8BF3-4FA2-3F86-53137A3C596D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5ECB1E-8C95-7FE7-6BFE-D95731B8341C}"/>
              </a:ext>
            </a:extLst>
          </p:cNvPr>
          <p:cNvSpPr txBox="1"/>
          <p:nvPr/>
        </p:nvSpPr>
        <p:spPr>
          <a:xfrm>
            <a:off x="1907296" y="4938526"/>
            <a:ext cx="38256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600" dirty="0">
                <a:effectLst/>
              </a:rPr>
              <a:t>over 2k demonstrations above 6 skills </a:t>
            </a:r>
            <a:endParaRPr lang="en-GB"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E4B0A1-3189-CB97-FAD2-EA936CCA95E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8964" y="2490505"/>
            <a:ext cx="6282272" cy="2448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1949B5-C48A-DD1D-4B23-C9204496DF6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41803" y="2490504"/>
            <a:ext cx="4271233" cy="244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4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70D6C-95C6-4E83-7B70-E9971238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D0082C-59C3-3870-86C4-03275E46F11D}"/>
              </a:ext>
            </a:extLst>
          </p:cNvPr>
          <p:cNvSpPr/>
          <p:nvPr/>
        </p:nvSpPr>
        <p:spPr>
          <a:xfrm>
            <a:off x="502919" y="502920"/>
            <a:ext cx="108114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400" b="1" dirty="0">
                <a:solidFill>
                  <a:srgbClr val="172033"/>
                </a:solidFill>
                <a:latin typeface="Aptos Display" pitchFamily="34" charset="0"/>
              </a:rPr>
              <a:t>Takeaways</a:t>
            </a:r>
            <a:endParaRPr lang="en-GB" sz="3400" b="1" dirty="0">
              <a:solidFill>
                <a:srgbClr val="172033"/>
              </a:solidFill>
              <a:latin typeface="Aptos Display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82500401-421A-569C-EA65-EE3CF753375E}"/>
              </a:ext>
            </a:extLst>
          </p:cNvPr>
          <p:cNvSpPr/>
          <p:nvPr/>
        </p:nvSpPr>
        <p:spPr>
          <a:xfrm>
            <a:off x="411480" y="6537960"/>
            <a:ext cx="7040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Zhang</a:t>
            </a:r>
            <a:r>
              <a:rPr lang="zh-CN" altLang="en-US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8A98AA"/>
                </a:solidFill>
                <a:latin typeface="Aptos" pitchFamily="34" charset="0"/>
                <a:ea typeface="Aptos" pitchFamily="34" charset="-122"/>
                <a:cs typeface="Times New Roman" panose="02020603050405020304" pitchFamily="18" charset="0"/>
              </a:rPr>
              <a:t>et al., </a:t>
            </a:r>
            <a:r>
              <a:rPr lang="en-GB" sz="1200" dirty="0">
                <a:solidFill>
                  <a:srgbClr val="8A98AA"/>
                </a:solidFill>
                <a:latin typeface="Aptos" pitchFamily="34" charset="0"/>
                <a:cs typeface="Times New Roman" panose="02020603050405020304" pitchFamily="18" charset="0"/>
              </a:rPr>
              <a:t>UP-VLA: A Unified Understanding and Prediction Model for Embodied Agent, ICML 2025 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4C10472A-1908-219B-BBD7-88166415C0E2}"/>
              </a:ext>
            </a:extLst>
          </p:cNvPr>
          <p:cNvSpPr/>
          <p:nvPr/>
        </p:nvSpPr>
        <p:spPr>
          <a:xfrm>
            <a:off x="411480" y="128016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B77882-4500-EB08-727D-21BA7A3600BB}"/>
              </a:ext>
            </a:extLst>
          </p:cNvPr>
          <p:cNvSpPr txBox="1"/>
          <p:nvPr/>
        </p:nvSpPr>
        <p:spPr>
          <a:xfrm>
            <a:off x="850392" y="2302431"/>
            <a:ext cx="83156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72033"/>
                </a:solidFill>
              </a:rPr>
              <a:t>• A </a:t>
            </a:r>
            <a:r>
              <a:rPr lang="en-GB" dirty="0"/>
              <a:t>unified training strategy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</a:t>
            </a:r>
            <a:r>
              <a:rPr lang="en-GB" dirty="0">
                <a:solidFill>
                  <a:srgbClr val="172033"/>
                </a:solidFill>
              </a:rPr>
              <a:t>H</a:t>
            </a:r>
            <a:r>
              <a:rPr lang="en-GB" dirty="0"/>
              <a:t>igh-level semantic content and low-level visual and spatial details are both crucial for accurate robot control. </a:t>
            </a:r>
          </a:p>
          <a:p>
            <a:endParaRPr lang="en-GB" dirty="0"/>
          </a:p>
          <a:p>
            <a:r>
              <a:rPr lang="en-US" dirty="0">
                <a:solidFill>
                  <a:srgbClr val="172033"/>
                </a:solidFill>
              </a:rPr>
              <a:t>• Jointly modeling understanding and future image prediction helps.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0731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477</Words>
  <Application>Microsoft Macintosh PowerPoint</Application>
  <PresentationFormat>Widescreen</PresentationFormat>
  <Paragraphs>65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UP-VLA: A Unified Understanding and Prediction Model for Embodied Agent</dc:title>
  <dc:subject>UP-VLA paper narrative summary</dc:subject>
  <dc:creator>OpenAI</dc:creator>
  <cp:lastModifiedBy>Hanxi Yin</cp:lastModifiedBy>
  <cp:revision>3</cp:revision>
  <dcterms:created xsi:type="dcterms:W3CDTF">2026-07-06T07:46:24Z</dcterms:created>
  <dcterms:modified xsi:type="dcterms:W3CDTF">2026-07-08T12:01:36Z</dcterms:modified>
</cp:coreProperties>
</file>
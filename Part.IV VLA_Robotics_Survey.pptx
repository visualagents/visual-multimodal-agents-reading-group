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9" r:id="rId11"/>
    <p:sldId id="278" r:id="rId12"/>
    <p:sldId id="280" r:id="rId13"/>
    <p:sldId id="28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63EC"/>
    <a:srgbClr val="12B981"/>
    <a:srgbClr val="F69E0B"/>
    <a:srgbClr val="EA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0"/>
  </p:normalViewPr>
  <p:slideViewPr>
    <p:cSldViewPr snapToGrid="0" snapToObjects="1">
      <p:cViewPr>
        <p:scale>
          <a:sx n="100" d="100"/>
          <a:sy n="100" d="100"/>
        </p:scale>
        <p:origin x="14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1193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47B88-6A68-4B20-6A67-806D76534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4DCC1-1EA7-8643-DE46-61F08ED60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C060D-415A-392E-2740-3F28E7B23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1595E-5D53-0B33-A1E5-46AB958F3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48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1C136-E3FA-7FC8-2A87-C04D7D290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50123-0DA4-893E-39D3-B0FE6987A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786CD-5180-FD7E-B5C1-5C2EAE4B7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AF6B4-3F52-DDC8-C643-462BCA277E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54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3048D-3B2F-803A-9CC3-C9D8A4FBD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3FDE1-F96A-E5C6-1EA2-4194E8C9A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EAAAC-71C2-E46D-0B19-0669BDA21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0A8AE-885A-6D7F-FB9D-6E98B4FFFD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25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9366F-DBD9-F6A3-A239-FFC820B3E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C2EAB-609E-38F6-E9EF-B0B57BDDD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88D24-577B-5516-2985-DFE605C69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A773C-3634-F8AF-4169-CE704EF5FB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674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C32B5-1E00-25C2-63F9-7E28222A6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6FC39-F1C1-9847-3D0D-34DCD84D4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790D9-32F5-A4B7-ACA3-FC3216A9F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4480A-94FD-07A5-47BA-A45F4BD234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0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3A33F-B3A6-B6C4-DD15-E3B2C7775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0DCB22-57F1-B6D2-4F2B-EB8A39718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A8C38-8303-A4B6-6153-A6D2F9975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8D750-9C41-B1DA-0115-9975F02A10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31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A6DCB-C1BE-B721-0973-D87329264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00B6D-FBA5-BDC9-30C1-8373149BF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2A9EB-FA3A-FFE4-671C-2734F0114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BA6EF-169F-5CE7-1702-6FC963AFAB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09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9DEF6-1008-C815-10D9-6D0C4512A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73E37-2B1B-A241-F25F-718A319E5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005E6-25FF-2026-257B-B9100806E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53AA8-06D1-AB03-B12A-EFB3E129C8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48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C645-6966-8F12-D0BF-785F6B5B5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1D4CA-8CA1-58E2-B77F-0F9C07A79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F90EE-E7EC-2323-483A-3F5DBDF79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BC8AA-20E9-02BF-A117-142AEA3B5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2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F81A6-C55B-1105-1190-B1CA56553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46985F-5DD8-229F-B50C-6C8084826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F2CAB-9449-3A83-A86C-5CE54B69C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6DF44-EDC1-E497-E0F6-44202C221E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3626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584F-0061-0046-B89B-80B5B512F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E4F5B9-9020-52A7-BB36-F9D3283A4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D8905-E880-E9A2-D7A6-A5C96D50A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C7411-0D20-66E8-1AF0-FA61CA0A3A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656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F3860-61E9-D207-8D4F-1E722CCFD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68FB24-059C-62E5-670A-7196C81F1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9EC0A-0FC7-ECB3-CA94-0072682B9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43856-E00D-B4C3-943A-B571C04F79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726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080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Vision-Language-Action models (VLAs): What, Why, How?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068352"/>
            <a:ext cx="5806440" cy="3835936"/>
          </a:xfrm>
          <a:prstGeom prst="rect">
            <a:avLst/>
          </a:prstGeom>
          <a:noFill/>
          <a:ln w="12700">
            <a:noFill/>
          </a:ln>
        </p:spPr>
        <p:txBody>
          <a:bodyPr wrap="square" lIns="2286" tIns="2286" rIns="2286" bIns="2286" rtlCol="0" anchor="ctr">
            <a:no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VLAs </a:t>
            </a:r>
            <a:r>
              <a:rPr lang="en-GB" dirty="0"/>
              <a:t>is a system that takes </a:t>
            </a:r>
            <a:r>
              <a:rPr lang="en-GB" dirty="0">
                <a:solidFill>
                  <a:srgbClr val="2463EC"/>
                </a:solidFill>
              </a:rPr>
              <a:t>visual observations</a:t>
            </a:r>
            <a:r>
              <a:rPr lang="en-GB" dirty="0"/>
              <a:t> and </a:t>
            </a:r>
            <a:r>
              <a:rPr lang="en-GB" dirty="0">
                <a:solidFill>
                  <a:srgbClr val="12B981"/>
                </a:solidFill>
              </a:rPr>
              <a:t>natural language instructions </a:t>
            </a:r>
            <a:r>
              <a:rPr lang="en-GB" dirty="0"/>
              <a:t>as required inputs and may incorporate additional sensory modalities. It produces </a:t>
            </a:r>
            <a:r>
              <a:rPr lang="en-GB" dirty="0">
                <a:solidFill>
                  <a:srgbClr val="F69E0B"/>
                </a:solidFill>
              </a:rPr>
              <a:t>robot actions </a:t>
            </a:r>
            <a:r>
              <a:rPr lang="en-GB" dirty="0"/>
              <a:t>by directly generating control commands. </a:t>
            </a:r>
            <a:endParaRPr lang="en-GB" dirty="0">
              <a:solidFill>
                <a:srgbClr val="172033"/>
              </a:solidFill>
            </a:endParaRPr>
          </a:p>
          <a:p>
            <a:pPr marL="0" indent="0" algn="l">
              <a:buNone/>
            </a:pPr>
            <a:endParaRPr lang="en-US" dirty="0">
              <a:solidFill>
                <a:srgbClr val="172033"/>
              </a:solidFill>
            </a:endParaRP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dirty="0"/>
              <a:t>VLAs aim to enable </a:t>
            </a:r>
            <a:r>
              <a:rPr lang="en-GB" dirty="0">
                <a:solidFill>
                  <a:srgbClr val="F69E0B"/>
                </a:solidFill>
              </a:rPr>
              <a:t>robots</a:t>
            </a:r>
            <a:r>
              <a:rPr lang="en-GB" dirty="0"/>
              <a:t> to perform </a:t>
            </a:r>
            <a:r>
              <a:rPr lang="en-GB" b="1" dirty="0"/>
              <a:t>a wider range of tasks </a:t>
            </a:r>
            <a:r>
              <a:rPr lang="en-GB" dirty="0"/>
              <a:t>and facilitate effective transfer across </a:t>
            </a:r>
            <a:r>
              <a:rPr lang="en-GB" b="1" dirty="0"/>
              <a:t>varying robotic embodiments</a:t>
            </a:r>
            <a:r>
              <a:rPr lang="en-GB" dirty="0"/>
              <a:t>. </a:t>
            </a:r>
          </a:p>
          <a:p>
            <a:pPr marL="0" indent="0" algn="l">
              <a:buNone/>
            </a:pPr>
            <a:endParaRPr lang="en-US" dirty="0">
              <a:solidFill>
                <a:srgbClr val="172033"/>
              </a:solidFill>
            </a:endParaRP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dirty="0">
                <a:solidFill>
                  <a:srgbClr val="172033"/>
                </a:solidFill>
              </a:rPr>
              <a:t>J</a:t>
            </a:r>
            <a:r>
              <a:rPr lang="en-GB" dirty="0"/>
              <a:t>ointly learning </a:t>
            </a:r>
            <a:r>
              <a:rPr lang="en-GB" dirty="0">
                <a:solidFill>
                  <a:srgbClr val="2463EC"/>
                </a:solidFill>
              </a:rPr>
              <a:t>visual</a:t>
            </a:r>
            <a:r>
              <a:rPr lang="en-GB" dirty="0"/>
              <a:t>, </a:t>
            </a:r>
            <a:r>
              <a:rPr lang="en-GB" dirty="0">
                <a:solidFill>
                  <a:srgbClr val="12B981"/>
                </a:solidFill>
              </a:rPr>
              <a:t>linguistic</a:t>
            </a:r>
            <a:r>
              <a:rPr lang="en-GB" dirty="0"/>
              <a:t>, and </a:t>
            </a:r>
            <a:r>
              <a:rPr lang="en-GB" dirty="0">
                <a:solidFill>
                  <a:srgbClr val="F69E0B"/>
                </a:solidFill>
              </a:rPr>
              <a:t>action</a:t>
            </a:r>
            <a:r>
              <a:rPr lang="en-GB" dirty="0"/>
              <a:t> modalities in an </a:t>
            </a:r>
            <a:r>
              <a:rPr lang="en-GB" b="1" dirty="0"/>
              <a:t>end-to-end</a:t>
            </a:r>
            <a:r>
              <a:rPr lang="en-GB" dirty="0"/>
              <a:t> framework with different architectural and training methodologies.</a:t>
            </a:r>
          </a:p>
        </p:txBody>
      </p:sp>
      <p:sp>
        <p:nvSpPr>
          <p:cNvPr id="6" name="Text 3"/>
          <p:cNvSpPr/>
          <p:nvPr/>
        </p:nvSpPr>
        <p:spPr>
          <a:xfrm>
            <a:off x="7006047" y="4932288"/>
            <a:ext cx="1234440" cy="338328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83387" y="4932288"/>
            <a:ext cx="1417320" cy="338328"/>
          </a:xfrm>
          <a:prstGeom prst="rect">
            <a:avLst/>
          </a:prstGeom>
          <a:solidFill>
            <a:srgbClr val="E9F9F1"/>
          </a:solidFill>
          <a:ln w="12700">
            <a:solidFill>
              <a:srgbClr val="10B98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343607" y="4932288"/>
            <a:ext cx="1234440" cy="338328"/>
          </a:xfrm>
          <a:prstGeom prst="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Vision-Language-Action Models for Robotics: A Review Towards Real-World Applications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B8FEFE-41A7-E0AD-29F4-0B25AB8ABAC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83680" y="1242745"/>
            <a:ext cx="5178672" cy="3405859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C317C04D-12F1-6471-9678-8E39BB0F292C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en-US" altLang="zh-CN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5F76-F5D5-1DB1-79B3-2DAC463BD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21DFBF-CBF2-4D42-0884-BB6439C0D1C0}"/>
              </a:ext>
            </a:extLst>
          </p:cNvPr>
          <p:cNvSpPr/>
          <p:nvPr/>
        </p:nvSpPr>
        <p:spPr>
          <a:xfrm>
            <a:off x="502920" y="502920"/>
            <a:ext cx="6080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</a:t>
            </a:r>
            <a:endParaRPr lang="en-US" sz="3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D1F88E-628C-0DE7-C6E9-4590723808EB}"/>
              </a:ext>
            </a:extLst>
          </p:cNvPr>
          <p:cNvSpPr/>
          <p:nvPr/>
        </p:nvSpPr>
        <p:spPr>
          <a:xfrm>
            <a:off x="502920" y="1693911"/>
            <a:ext cx="7569926" cy="3835936"/>
          </a:xfrm>
          <a:prstGeom prst="rect">
            <a:avLst/>
          </a:prstGeom>
          <a:noFill/>
          <a:ln w="12700">
            <a:noFill/>
          </a:ln>
        </p:spPr>
        <p:txBody>
          <a:bodyPr wrap="square" lIns="2286" tIns="2286" rIns="2286" bIns="2286" rtlCol="0" anchor="ctr">
            <a:no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>
                <a:solidFill>
                  <a:srgbClr val="172033"/>
                </a:solidFill>
              </a:rPr>
              <a:t>D</a:t>
            </a:r>
            <a:r>
              <a:rPr lang="en-GB" b="1" dirty="0"/>
              <a:t>ata availability</a:t>
            </a:r>
            <a:r>
              <a:rPr lang="en-GB" dirty="0"/>
              <a:t>: datasets satisfying all three modalities</a:t>
            </a:r>
            <a:r>
              <a:rPr lang="zh-CN" altLang="en-US" dirty="0"/>
              <a:t> </a:t>
            </a:r>
            <a:r>
              <a:rPr lang="en-GB" dirty="0"/>
              <a:t>are limited in both </a:t>
            </a:r>
            <a:r>
              <a:rPr lang="en-GB" b="1" dirty="0"/>
              <a:t>scale</a:t>
            </a:r>
            <a:r>
              <a:rPr lang="en-GB" dirty="0"/>
              <a:t> and </a:t>
            </a:r>
            <a:r>
              <a:rPr lang="en-GB" b="1" dirty="0"/>
              <a:t>diversity</a:t>
            </a:r>
            <a:r>
              <a:rPr lang="en-GB" dirty="0"/>
              <a:t>. </a:t>
            </a:r>
            <a:endParaRPr lang="en-GB" dirty="0">
              <a:solidFill>
                <a:srgbClr val="172033"/>
              </a:solidFill>
            </a:endParaRPr>
          </a:p>
          <a:p>
            <a:pPr marL="0" indent="0" algn="l">
              <a:buNone/>
            </a:pPr>
            <a:endParaRPr lang="en-US" dirty="0">
              <a:solidFill>
                <a:srgbClr val="172033"/>
              </a:solidFill>
            </a:endParaRP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>
                <a:solidFill>
                  <a:srgbClr val="172033"/>
                </a:solidFill>
              </a:rPr>
              <a:t>E</a:t>
            </a:r>
            <a:r>
              <a:rPr lang="en-GB" b="1" dirty="0"/>
              <a:t>mbodiment mismatches</a:t>
            </a:r>
            <a:r>
              <a:rPr lang="en-GB" dirty="0"/>
              <a:t>: each robot typically operates in a distinct </a:t>
            </a:r>
            <a:r>
              <a:rPr lang="en-GB" b="1" dirty="0"/>
              <a:t>action space</a:t>
            </a:r>
            <a:r>
              <a:rPr lang="en-GB" dirty="0"/>
              <a:t> and proprioceptive </a:t>
            </a:r>
            <a:r>
              <a:rPr lang="en-GB" b="1" dirty="0"/>
              <a:t>observation space</a:t>
            </a:r>
            <a:r>
              <a:rPr lang="en-GB" dirty="0"/>
              <a:t>, reflecting differences in </a:t>
            </a:r>
            <a:r>
              <a:rPr lang="en-GB" u="sng" dirty="0"/>
              <a:t>degrees of freedom</a:t>
            </a:r>
            <a:r>
              <a:rPr lang="en-GB" dirty="0"/>
              <a:t>, </a:t>
            </a:r>
            <a:r>
              <a:rPr lang="en-GB" u="sng" dirty="0"/>
              <a:t>sensor modalities</a:t>
            </a:r>
            <a:r>
              <a:rPr lang="en-GB" dirty="0"/>
              <a:t>, and </a:t>
            </a:r>
            <a:r>
              <a:rPr lang="en-GB" u="sng" dirty="0"/>
              <a:t>kinematic structure</a:t>
            </a:r>
            <a:r>
              <a:rPr lang="en-GB" dirty="0"/>
              <a:t>. </a:t>
            </a:r>
          </a:p>
          <a:p>
            <a:pPr marL="0" indent="0" algn="l">
              <a:buNone/>
            </a:pPr>
            <a:endParaRPr lang="en-US" dirty="0">
              <a:solidFill>
                <a:srgbClr val="172033"/>
              </a:solidFill>
            </a:endParaRP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>
                <a:solidFill>
                  <a:srgbClr val="172033"/>
                </a:solidFill>
              </a:rPr>
              <a:t>C</a:t>
            </a:r>
            <a:r>
              <a:rPr lang="en-GB" b="1" dirty="0"/>
              <a:t>omputational constraints</a:t>
            </a:r>
            <a:r>
              <a:rPr lang="en-GB" dirty="0"/>
              <a:t>: training VLA models entails a considerable amount of computational demands due to the </a:t>
            </a:r>
            <a:r>
              <a:rPr lang="en-GB" b="1" dirty="0"/>
              <a:t>high-dimensional</a:t>
            </a:r>
            <a:r>
              <a:rPr lang="en-GB" dirty="0"/>
              <a:t> and </a:t>
            </a:r>
            <a:r>
              <a:rPr lang="en-GB" b="1" dirty="0"/>
              <a:t>multi-modal</a:t>
            </a:r>
            <a:r>
              <a:rPr lang="en-GB" dirty="0"/>
              <a:t> nature of their input.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741276C-ED53-88F3-F383-9C730803870F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Vision-Language-Action Models for Robotics: A Review Towards Real-World Applications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6335E5-1099-C6E9-CB67-75D23D5A91E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1F0D9"/>
              </a:clrFrom>
              <a:clrTo>
                <a:srgbClr val="E1F0D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67354" y="3104454"/>
            <a:ext cx="1055914" cy="10148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3A9A71-2AD0-4B23-8F7E-D9E32622D58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DDEBF7"/>
              </a:clrFrom>
              <a:clrTo>
                <a:srgbClr val="DDEB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66205" y="1828800"/>
            <a:ext cx="1295379" cy="10148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C3B229-8C33-0E6B-A9C6-004E34B263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66205" y="4380108"/>
            <a:ext cx="1187692" cy="1231079"/>
          </a:xfrm>
          <a:prstGeom prst="rect">
            <a:avLst/>
          </a:prstGeom>
        </p:spPr>
      </p:pic>
      <p:sp>
        <p:nvSpPr>
          <p:cNvPr id="14" name="Text 0">
            <a:extLst>
              <a:ext uri="{FF2B5EF4-FFF2-40B4-BE49-F238E27FC236}">
                <a16:creationId xmlns:a16="http://schemas.microsoft.com/office/drawing/2014/main" id="{7C70A67B-2552-C4B6-44B3-DB7D3775F05F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en-US" altLang="zh-CN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292876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AAEFE-6E01-6A03-914F-E8E67BE3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72CD24-9D3E-39E3-4A11-6C4ECB9087BD}"/>
              </a:ext>
            </a:extLst>
          </p:cNvPr>
          <p:cNvSpPr/>
          <p:nvPr/>
        </p:nvSpPr>
        <p:spPr>
          <a:xfrm>
            <a:off x="502920" y="502920"/>
            <a:ext cx="6080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</a:t>
            </a:r>
            <a:r>
              <a:rPr lang="zh-CN" alt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</a:t>
            </a: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endParaRPr lang="en-US" sz="3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B396FE3-7EB1-E5F9-3237-0459EE426187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Vision-Language-Action Models for Robotics: A Review Towards Real-World Applications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E460DF-D0C9-4961-2C6B-50BFE8D7BA2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40404" y="697306"/>
            <a:ext cx="7348676" cy="46902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226CC2-1E67-4467-FDCC-EFACCC40CD17}"/>
              </a:ext>
            </a:extLst>
          </p:cNvPr>
          <p:cNvSpPr txBox="1"/>
          <p:nvPr/>
        </p:nvSpPr>
        <p:spPr>
          <a:xfrm>
            <a:off x="3543300" y="697306"/>
            <a:ext cx="892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172033"/>
                </a:solidFill>
              </a:rPr>
              <a:t>2022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C400BD-3A4A-AA13-B0BE-505CA88E5E33}"/>
              </a:ext>
            </a:extLst>
          </p:cNvPr>
          <p:cNvSpPr txBox="1"/>
          <p:nvPr/>
        </p:nvSpPr>
        <p:spPr>
          <a:xfrm>
            <a:off x="3543300" y="4721424"/>
            <a:ext cx="892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172033"/>
                </a:solidFill>
              </a:rPr>
              <a:t>Now</a:t>
            </a:r>
            <a:endParaRPr lang="en-US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DA8B56-D605-0326-6C00-34752EE20CEA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3989688" y="1005083"/>
            <a:ext cx="0" cy="371634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34F2C0-0EB3-B4F3-24D5-9336D5C7EF4B}"/>
              </a:ext>
            </a:extLst>
          </p:cNvPr>
          <p:cNvCxnSpPr>
            <a:cxnSpLocks/>
          </p:cNvCxnSpPr>
          <p:nvPr/>
        </p:nvCxnSpPr>
        <p:spPr>
          <a:xfrm>
            <a:off x="4774742" y="5585255"/>
            <a:ext cx="64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137CC55-84FB-5F80-1D82-72F103F3601B}"/>
              </a:ext>
            </a:extLst>
          </p:cNvPr>
          <p:cNvSpPr txBox="1"/>
          <p:nvPr/>
        </p:nvSpPr>
        <p:spPr>
          <a:xfrm>
            <a:off x="6384268" y="5710009"/>
            <a:ext cx="3260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172033"/>
                </a:solidFill>
              </a:rPr>
              <a:t>Different</a:t>
            </a:r>
            <a:r>
              <a:rPr lang="zh-CN" altLang="en-US" sz="1400" dirty="0">
                <a:solidFill>
                  <a:srgbClr val="172033"/>
                </a:solidFill>
              </a:rPr>
              <a:t> </a:t>
            </a:r>
            <a:r>
              <a:rPr lang="en-US" altLang="zh-CN" sz="1400" dirty="0">
                <a:solidFill>
                  <a:srgbClr val="172033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8B08BD09-878A-7CBB-C2F4-2F74263812FA}"/>
              </a:ext>
            </a:extLst>
          </p:cNvPr>
          <p:cNvSpPr/>
          <p:nvPr/>
        </p:nvSpPr>
        <p:spPr>
          <a:xfrm>
            <a:off x="327563" y="2262232"/>
            <a:ext cx="3486768" cy="2100847"/>
          </a:xfrm>
          <a:prstGeom prst="rect">
            <a:avLst/>
          </a:prstGeom>
          <a:noFill/>
          <a:ln w="12700">
            <a:noFill/>
          </a:ln>
        </p:spPr>
        <p:txBody>
          <a:bodyPr wrap="square" lIns="2286" tIns="2286" rIns="2286" bIns="2286" rtlCol="0" anchor="ctr">
            <a:no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dirty="0">
                <a:solidFill>
                  <a:srgbClr val="172033"/>
                </a:solidFill>
              </a:rPr>
              <a:t>R</a:t>
            </a:r>
            <a:r>
              <a:rPr lang="en-GB" dirty="0"/>
              <a:t>esearch on VLAs remains in its early stages</a:t>
            </a:r>
            <a:r>
              <a:rPr lang="en-US" dirty="0"/>
              <a:t>. </a:t>
            </a:r>
            <a:r>
              <a:rPr lang="en-GB" dirty="0"/>
              <a:t>Architectural and training methodologies are not yet standardized.</a:t>
            </a: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289A9753-8942-5C87-6CE3-E96B50EAEC8E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058382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CD9F8-119C-D293-8885-7865AFD2A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648C62-B786-AE6B-7002-D2BC36257E67}"/>
              </a:ext>
            </a:extLst>
          </p:cNvPr>
          <p:cNvSpPr/>
          <p:nvPr/>
        </p:nvSpPr>
        <p:spPr>
          <a:xfrm>
            <a:off x="502920" y="502920"/>
            <a:ext cx="6080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Architectures</a:t>
            </a:r>
            <a:endParaRPr lang="en-US" sz="3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BD49DF2-F672-E6F7-2613-1A4AEF2EA131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Vision-Language-Action Models for Robotics: A Review Towards Real-World Applications</a:t>
            </a:r>
            <a:endParaRPr lang="en-US" sz="12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0E8E7543-6DE1-1174-51C2-8AE9786F12C6}"/>
              </a:ext>
            </a:extLst>
          </p:cNvPr>
          <p:cNvSpPr/>
          <p:nvPr/>
        </p:nvSpPr>
        <p:spPr>
          <a:xfrm>
            <a:off x="327562" y="2117452"/>
            <a:ext cx="5768438" cy="3059068"/>
          </a:xfrm>
          <a:prstGeom prst="rect">
            <a:avLst/>
          </a:prstGeom>
          <a:noFill/>
          <a:ln w="12700">
            <a:noFill/>
          </a:ln>
        </p:spPr>
        <p:txBody>
          <a:bodyPr wrap="square" lIns="2286" tIns="2286" rIns="2286" bIns="2286" rtlCol="0" anchor="ctr">
            <a:no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>
                <a:solidFill>
                  <a:srgbClr val="172033"/>
                </a:solidFill>
              </a:rPr>
              <a:t>S</a:t>
            </a:r>
            <a:r>
              <a:rPr lang="en-GB" b="1" dirty="0"/>
              <a:t>ensorimotor model</a:t>
            </a:r>
            <a:r>
              <a:rPr lang="en-GB" dirty="0"/>
              <a:t>: directly output </a:t>
            </a:r>
            <a:r>
              <a:rPr lang="en-GB" dirty="0">
                <a:solidFill>
                  <a:srgbClr val="FFC000"/>
                </a:solidFill>
              </a:rPr>
              <a:t>actions</a:t>
            </a:r>
            <a:r>
              <a:rPr lang="en-GB" dirty="0"/>
              <a:t>. </a:t>
            </a:r>
          </a:p>
          <a:p>
            <a:r>
              <a:rPr lang="en-GB" dirty="0"/>
              <a:t> </a:t>
            </a: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/>
              <a:t>World model</a:t>
            </a:r>
            <a:r>
              <a:rPr lang="en-GB" dirty="0"/>
              <a:t>: predict the future evolution of </a:t>
            </a:r>
            <a:r>
              <a:rPr lang="en-GB" dirty="0">
                <a:solidFill>
                  <a:srgbClr val="12B981"/>
                </a:solidFill>
              </a:rPr>
              <a:t>visual</a:t>
            </a:r>
            <a:r>
              <a:rPr lang="en-GB" dirty="0"/>
              <a:t> modalities and use these predictions to guide action generation </a:t>
            </a:r>
          </a:p>
          <a:p>
            <a:r>
              <a:rPr lang="en-GB" dirty="0"/>
              <a:t> </a:t>
            </a: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/>
              <a:t>Affordance model</a:t>
            </a:r>
            <a:r>
              <a:rPr lang="en-GB" dirty="0"/>
              <a:t>: predict action-relevant visual affordances based on </a:t>
            </a:r>
            <a:r>
              <a:rPr lang="en-GB" dirty="0">
                <a:solidFill>
                  <a:srgbClr val="2463EC"/>
                </a:solidFill>
              </a:rPr>
              <a:t>language</a:t>
            </a:r>
            <a:r>
              <a:rPr lang="en-GB" dirty="0"/>
              <a:t> and then generate actions accordingly. </a:t>
            </a: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AB76C2C3-F58C-390A-E287-E2CF316CBB32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en-US" altLang="zh-CN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72B6A7A-E0E5-F6A8-307A-9C8FE76B9DA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DEBF7"/>
              </a:clrFrom>
              <a:clrTo>
                <a:srgbClr val="DDEB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83680" y="662299"/>
            <a:ext cx="5285363" cy="451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289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FC24F-8D0E-36B0-EBBA-46AD7ACE1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303E04-F262-A2BD-341B-1B9BA3C65E46}"/>
              </a:ext>
            </a:extLst>
          </p:cNvPr>
          <p:cNvSpPr/>
          <p:nvPr/>
        </p:nvSpPr>
        <p:spPr>
          <a:xfrm>
            <a:off x="502920" y="502920"/>
            <a:ext cx="7129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GB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Architectures</a:t>
            </a:r>
            <a:r>
              <a:rPr lang="en-US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 </a:t>
            </a:r>
            <a:r>
              <a:rPr lang="en-GB" sz="3600" b="1" dirty="0">
                <a:solidFill>
                  <a:srgbClr val="172033"/>
                </a:solidFill>
              </a:rPr>
              <a:t>S</a:t>
            </a:r>
            <a:r>
              <a:rPr lang="en-GB" sz="3600" b="1" dirty="0"/>
              <a:t>ensorimotor model</a:t>
            </a:r>
            <a:endParaRPr lang="en-US" sz="3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3C45500-E87C-456D-E288-2ACF4C5A67FE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Vision-Language-Action Models for Robotics: A Review Towards Real-World Applications</a:t>
            </a:r>
            <a:endParaRPr lang="en-US" sz="12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9BBF96A1-90F9-1602-2BDB-1CFA19B96E14}"/>
              </a:ext>
            </a:extLst>
          </p:cNvPr>
          <p:cNvSpPr/>
          <p:nvPr/>
        </p:nvSpPr>
        <p:spPr>
          <a:xfrm>
            <a:off x="327562" y="1896823"/>
            <a:ext cx="5438238" cy="3762648"/>
          </a:xfrm>
          <a:prstGeom prst="rect">
            <a:avLst/>
          </a:prstGeom>
          <a:noFill/>
          <a:ln w="12700">
            <a:noFill/>
          </a:ln>
        </p:spPr>
        <p:txBody>
          <a:bodyPr wrap="square" lIns="2286" tIns="2286" rIns="2286" bIns="2286" rtlCol="0" anchor="ctr">
            <a:no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From </a:t>
            </a:r>
            <a:r>
              <a:rPr lang="en-US" b="1" dirty="0">
                <a:solidFill>
                  <a:srgbClr val="172033"/>
                </a:solidFill>
              </a:rPr>
              <a:t>Discrete Action Tok</a:t>
            </a:r>
            <a:r>
              <a:rPr lang="en-US" dirty="0">
                <a:solidFill>
                  <a:srgbClr val="172033"/>
                </a:solidFill>
              </a:rPr>
              <a:t>en to </a:t>
            </a:r>
            <a:r>
              <a:rPr lang="en-US" b="1" dirty="0">
                <a:solidFill>
                  <a:srgbClr val="172033"/>
                </a:solidFill>
              </a:rPr>
              <a:t>Continuous Action</a:t>
            </a:r>
            <a:r>
              <a:rPr lang="en-US" dirty="0">
                <a:solidFill>
                  <a:srgbClr val="172033"/>
                </a:solidFill>
              </a:rPr>
              <a:t>: </a:t>
            </a:r>
            <a:r>
              <a:rPr lang="en-GB" dirty="0"/>
              <a:t>discrete action tokens often lack real-time responsiveness and smoothness, and diffusion models achieve continuous and stable action outputs. </a:t>
            </a:r>
          </a:p>
          <a:p>
            <a:r>
              <a:rPr lang="en-GB" dirty="0"/>
              <a:t> </a:t>
            </a: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dirty="0"/>
              <a:t>Leveraging</a:t>
            </a:r>
            <a:r>
              <a:rPr lang="zh-CN" altLang="en-US" dirty="0"/>
              <a:t> </a:t>
            </a:r>
            <a:r>
              <a:rPr lang="en-GB" b="1" dirty="0"/>
              <a:t>VLM</a:t>
            </a:r>
            <a:r>
              <a:rPr lang="en-GB" dirty="0"/>
              <a:t> pre-trained on large-scale internet data</a:t>
            </a:r>
            <a:r>
              <a:rPr lang="en-US" dirty="0"/>
              <a:t>: </a:t>
            </a:r>
            <a:r>
              <a:rPr lang="en-GB" dirty="0"/>
              <a:t>allows these models to incorporate human commonsense knowledge and benefit from in-context learning capabilities. </a:t>
            </a:r>
          </a:p>
          <a:p>
            <a:endParaRPr lang="en-GB" dirty="0"/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/>
              <a:t>VLM + Diffusion Transformer</a:t>
            </a:r>
            <a:r>
              <a:rPr lang="en-GB" dirty="0"/>
              <a:t>: the VLM typically serves as a high-level policy, while the diffusion transformer acts as a low-level policy </a:t>
            </a: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59EDB069-529C-92E8-B567-ECD5D5BB0B41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CCCD31-A318-1326-3A88-67DA0988041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65800" y="1463638"/>
            <a:ext cx="6197600" cy="462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318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B865C-D709-5DBC-FB33-F7C5A84AC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249813-EA50-A3D1-8DBB-DEB0321B3261}"/>
              </a:ext>
            </a:extLst>
          </p:cNvPr>
          <p:cNvSpPr/>
          <p:nvPr/>
        </p:nvSpPr>
        <p:spPr>
          <a:xfrm>
            <a:off x="502920" y="502920"/>
            <a:ext cx="7129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GB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Architectures</a:t>
            </a:r>
            <a:r>
              <a:rPr lang="en-US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 </a:t>
            </a:r>
            <a:r>
              <a:rPr lang="en-GB" sz="3600" b="1" dirty="0">
                <a:solidFill>
                  <a:srgbClr val="172033"/>
                </a:solidFill>
              </a:rPr>
              <a:t>World</a:t>
            </a:r>
            <a:r>
              <a:rPr lang="en-GB" sz="3600" b="1" dirty="0"/>
              <a:t> model</a:t>
            </a:r>
            <a:endParaRPr lang="en-US" sz="3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7D11043-E381-EEC1-0DE4-38A941BF3DDF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Vision-Language-Action Models for Robotics: A Review Towards Real-World Applications</a:t>
            </a:r>
            <a:endParaRPr lang="en-US" sz="12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20100001-CA7D-89E5-44D3-29D969CDBB35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83281B-B160-83C4-199D-23E41CB7A54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84582" y="1715838"/>
            <a:ext cx="7281816" cy="30449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C0ADCB-17F3-BABC-CA09-F9958CE903B0}"/>
              </a:ext>
            </a:extLst>
          </p:cNvPr>
          <p:cNvSpPr txBox="1"/>
          <p:nvPr/>
        </p:nvSpPr>
        <p:spPr>
          <a:xfrm>
            <a:off x="630936" y="5054445"/>
            <a:ext cx="103891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/>
              <a:t>IDM</a:t>
            </a:r>
            <a:r>
              <a:rPr lang="en-GB" dirty="0"/>
              <a:t> translates the predicted image sequence into low-level actions.</a:t>
            </a: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dirty="0"/>
              <a:t>Generate </a:t>
            </a:r>
            <a:r>
              <a:rPr lang="en-GB" b="1" dirty="0"/>
              <a:t>future frames </a:t>
            </a:r>
            <a:r>
              <a:rPr lang="en-GB" dirty="0"/>
              <a:t>conditioned on the current image and the </a:t>
            </a:r>
            <a:r>
              <a:rPr lang="en-GB" b="1" dirty="0"/>
              <a:t>latent action</a:t>
            </a:r>
            <a:r>
              <a:rPr lang="en-GB" dirty="0"/>
              <a:t>. (self-supervised)</a:t>
            </a: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dirty="0">
                <a:solidFill>
                  <a:srgbClr val="172033"/>
                </a:solidFill>
              </a:rPr>
              <a:t>J</a:t>
            </a:r>
            <a:r>
              <a:rPr lang="en-GB" dirty="0"/>
              <a:t>ointly output both </a:t>
            </a:r>
            <a:r>
              <a:rPr lang="en-GB" b="1" dirty="0"/>
              <a:t>actions</a:t>
            </a:r>
            <a:r>
              <a:rPr lang="en-GB" dirty="0"/>
              <a:t> and predictions of </a:t>
            </a:r>
            <a:r>
              <a:rPr lang="en-GB" b="1" dirty="0"/>
              <a:t>future observations</a:t>
            </a:r>
            <a:r>
              <a:rPr lang="en-GB" dirty="0"/>
              <a:t> to improve performance </a:t>
            </a:r>
          </a:p>
        </p:txBody>
      </p:sp>
    </p:spTree>
    <p:extLst>
      <p:ext uri="{BB962C8B-B14F-4D97-AF65-F5344CB8AC3E}">
        <p14:creationId xmlns:p14="http://schemas.microsoft.com/office/powerpoint/2010/main" val="3906391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4C12F-F26D-D2E4-CCDB-E05D576D9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86A63B-6FEA-4395-358A-C5CBE630C9B8}"/>
              </a:ext>
            </a:extLst>
          </p:cNvPr>
          <p:cNvSpPr/>
          <p:nvPr/>
        </p:nvSpPr>
        <p:spPr>
          <a:xfrm>
            <a:off x="502920" y="502920"/>
            <a:ext cx="7129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GB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Architectures</a:t>
            </a:r>
            <a:r>
              <a:rPr lang="en-US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 </a:t>
            </a:r>
            <a:r>
              <a:rPr lang="en-GB" sz="3600" b="1" dirty="0">
                <a:solidFill>
                  <a:srgbClr val="172033"/>
                </a:solidFill>
              </a:rPr>
              <a:t>Affordance</a:t>
            </a:r>
            <a:r>
              <a:rPr lang="en-GB" sz="3600" b="1" dirty="0"/>
              <a:t> model</a:t>
            </a:r>
            <a:endParaRPr lang="en-US" sz="3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DA33D98-8F81-5DE7-C230-1BCD1447CCB8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Vision-Language-Action Models for Robotics: A Review Towards Real-World Applications</a:t>
            </a:r>
            <a:endParaRPr lang="en-US" sz="12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D3896293-DBCA-98DE-7FD6-9F1507D8A4A8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en-US" altLang="zh-CN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942C32-E555-1BFA-F4C5-6FE1D4085AB0}"/>
              </a:ext>
            </a:extLst>
          </p:cNvPr>
          <p:cNvSpPr txBox="1"/>
          <p:nvPr/>
        </p:nvSpPr>
        <p:spPr>
          <a:xfrm>
            <a:off x="630936" y="5054445"/>
            <a:ext cx="103891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dirty="0"/>
              <a:t>Predicting </a:t>
            </a:r>
            <a:r>
              <a:rPr lang="en-GB" b="1" dirty="0"/>
              <a:t>affordances</a:t>
            </a:r>
            <a:r>
              <a:rPr lang="en-GB" dirty="0"/>
              <a:t> and subsequently generating actions.</a:t>
            </a: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dirty="0"/>
              <a:t>Extracting affordances from </a:t>
            </a:r>
            <a:r>
              <a:rPr lang="en-GB" b="1" dirty="0"/>
              <a:t>human demonstration videos </a:t>
            </a:r>
            <a:r>
              <a:rPr lang="en-GB" dirty="0"/>
              <a:t>and learning latent representations to guide action generation </a:t>
            </a: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dirty="0">
                <a:solidFill>
                  <a:srgbClr val="172033"/>
                </a:solidFill>
              </a:rPr>
              <a:t>I</a:t>
            </a:r>
            <a:r>
              <a:rPr lang="en-GB" dirty="0"/>
              <a:t>ncorporating affordance prediction into VLA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327EB0-4B07-D11C-C7BB-5418B72F4BB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17868" y="1701769"/>
            <a:ext cx="7615244" cy="30359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A65DAB-132F-D17E-4981-3D43FA803E10}"/>
              </a:ext>
            </a:extLst>
          </p:cNvPr>
          <p:cNvSpPr txBox="1"/>
          <p:nvPr/>
        </p:nvSpPr>
        <p:spPr>
          <a:xfrm>
            <a:off x="7452360" y="573906"/>
            <a:ext cx="44627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i="1" dirty="0">
                <a:solidFill>
                  <a:srgbClr val="FF0000"/>
                </a:solidFill>
              </a:rPr>
              <a:t>“</a:t>
            </a:r>
            <a:r>
              <a:rPr lang="en-GB" sz="1200" i="1" dirty="0">
                <a:solidFill>
                  <a:srgbClr val="FF0000"/>
                </a:solidFill>
              </a:rPr>
              <a:t>An </a:t>
            </a:r>
            <a:r>
              <a:rPr lang="en-GB" sz="1200" b="1" i="1" dirty="0">
                <a:solidFill>
                  <a:srgbClr val="FF0000"/>
                </a:solidFill>
              </a:rPr>
              <a:t>affordance</a:t>
            </a:r>
            <a:r>
              <a:rPr lang="en-GB" sz="1200" i="1" dirty="0">
                <a:solidFill>
                  <a:srgbClr val="FF0000"/>
                </a:solidFill>
              </a:rPr>
              <a:t> is a relationship between an actor, an object, and an action, defining what actions are feasible for the actor on that object in a given environment.</a:t>
            </a:r>
            <a:r>
              <a:rPr lang="zh-CN" altLang="en-US" sz="1200" i="1" dirty="0">
                <a:solidFill>
                  <a:srgbClr val="FF0000"/>
                </a:solidFill>
              </a:rPr>
              <a:t>”</a:t>
            </a:r>
            <a:endParaRPr lang="en-US" sz="12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226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8169A-34E4-42ED-5208-F16820ADF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7C77DC-9B5E-A67A-BBFF-BEB7E7087D8C}"/>
              </a:ext>
            </a:extLst>
          </p:cNvPr>
          <p:cNvSpPr/>
          <p:nvPr/>
        </p:nvSpPr>
        <p:spPr>
          <a:xfrm>
            <a:off x="502920" y="502920"/>
            <a:ext cx="7129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GB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Architectures</a:t>
            </a:r>
            <a:r>
              <a:rPr lang="en-US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 </a:t>
            </a:r>
            <a:r>
              <a:rPr lang="en-GB" sz="3600" b="1" dirty="0">
                <a:solidFill>
                  <a:srgbClr val="172033"/>
                </a:solidFill>
              </a:rPr>
              <a:t>Emerging</a:t>
            </a:r>
            <a:r>
              <a:rPr lang="en-GB" sz="3600" b="1" dirty="0"/>
              <a:t> directions</a:t>
            </a:r>
            <a:endParaRPr lang="en-US" sz="3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EE75D15-10D3-3D3B-F349-7E40866AB62B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Vision-Language-Action Models for Robotics: A Review Towards Real-World Applications</a:t>
            </a:r>
            <a:endParaRPr lang="en-US" sz="12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78359BA2-ABC0-5864-E4CB-B6A67584F21B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en-US" altLang="zh-CN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0EF4B-74E4-485B-03F9-2E8BA76CFC88}"/>
              </a:ext>
            </a:extLst>
          </p:cNvPr>
          <p:cNvSpPr txBox="1"/>
          <p:nvPr/>
        </p:nvSpPr>
        <p:spPr>
          <a:xfrm>
            <a:off x="630936" y="2362045"/>
            <a:ext cx="93893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/>
              <a:t>Hierarchical architectures</a:t>
            </a:r>
            <a:r>
              <a:rPr lang="en-US" dirty="0"/>
              <a:t>: </a:t>
            </a:r>
            <a:r>
              <a:rPr lang="en-GB" dirty="0"/>
              <a:t> Using existing VLMs as high-level policies to decompose task instructions into </a:t>
            </a:r>
            <a:r>
              <a:rPr lang="en-GB" b="1" dirty="0"/>
              <a:t>subtasks</a:t>
            </a:r>
            <a:r>
              <a:rPr lang="en-GB" dirty="0"/>
              <a:t>. These subtask descriptions are then passed to a VLA acting as the low-level policy. </a:t>
            </a:r>
          </a:p>
          <a:p>
            <a:endParaRPr lang="en-GB" dirty="0"/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/>
              <a:t>Chain-of-Thought (</a:t>
            </a:r>
            <a:r>
              <a:rPr lang="en-GB" b="1" dirty="0" err="1"/>
              <a:t>CoT</a:t>
            </a:r>
            <a:r>
              <a:rPr lang="en-GB" b="1" dirty="0"/>
              <a:t>) reasoning</a:t>
            </a:r>
            <a:r>
              <a:rPr lang="en-GB" dirty="0"/>
              <a:t>:  introducing a step-by-step process between observations, instructions, and action generation, e.g. predicting </a:t>
            </a:r>
            <a:r>
              <a:rPr lang="en-GB" b="1" dirty="0"/>
              <a:t>task descriptions</a:t>
            </a:r>
            <a:r>
              <a:rPr lang="en-GB" dirty="0"/>
              <a:t>, </a:t>
            </a:r>
            <a:r>
              <a:rPr lang="en-GB" b="1" dirty="0"/>
              <a:t>subtasks</a:t>
            </a:r>
            <a:r>
              <a:rPr lang="en-GB" dirty="0"/>
              <a:t>, and </a:t>
            </a:r>
            <a:r>
              <a:rPr lang="en-GB" b="1" dirty="0"/>
              <a:t>object positions</a:t>
            </a:r>
            <a:r>
              <a:rPr lang="en-GB" dirty="0"/>
              <a:t>, before generating the final action sequence. (Broader concept)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0238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A8865-C016-57D7-1C29-323C39625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791B57-E0A9-A90A-3EC3-B56F5F6F9C3F}"/>
              </a:ext>
            </a:extLst>
          </p:cNvPr>
          <p:cNvSpPr/>
          <p:nvPr/>
        </p:nvSpPr>
        <p:spPr>
          <a:xfrm>
            <a:off x="502920" y="502920"/>
            <a:ext cx="7129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GB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</a:t>
            </a:r>
            <a:r>
              <a:rPr lang="zh-CN" alt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</a:t>
            </a:r>
            <a:endParaRPr lang="en-US" sz="3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D89CF8F-2DF5-E6D6-ADE1-F0A23EE23F78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Vision-Language-Action Models for Robotics: A Review Towards Real-World Applications</a:t>
            </a:r>
            <a:endParaRPr lang="en-US" sz="12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2207F9CE-808B-C1C3-D084-1343B8CF35ED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en-US" altLang="zh-CN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E83B08-C36C-9CDB-C30A-58BEB3653E9D}"/>
              </a:ext>
            </a:extLst>
          </p:cNvPr>
          <p:cNvSpPr txBox="1"/>
          <p:nvPr/>
        </p:nvSpPr>
        <p:spPr>
          <a:xfrm>
            <a:off x="2395736" y="2161108"/>
            <a:ext cx="72689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/>
              <a:t>Supervised</a:t>
            </a:r>
            <a:r>
              <a:rPr lang="zh-CN" altLang="en-US" b="1" dirty="0"/>
              <a:t> </a:t>
            </a:r>
            <a:r>
              <a:rPr lang="en-US" altLang="zh-CN" b="1" dirty="0"/>
              <a:t>learning</a:t>
            </a:r>
            <a:r>
              <a:rPr lang="en-US" dirty="0"/>
              <a:t>: </a:t>
            </a:r>
            <a:r>
              <a:rPr lang="en-GB" dirty="0"/>
              <a:t> training is often formulated as a next-token prediction task</a:t>
            </a:r>
            <a:r>
              <a:rPr lang="zh-CN" altLang="en-US" dirty="0"/>
              <a:t> </a:t>
            </a:r>
            <a:r>
              <a:rPr lang="en-GB" altLang="zh-CN" dirty="0"/>
              <a:t>with </a:t>
            </a:r>
            <a:r>
              <a:rPr lang="en-GB" dirty="0"/>
              <a:t>pairs of images, language, and actions.</a:t>
            </a:r>
            <a:r>
              <a:rPr lang="zh-CN" altLang="en-US" dirty="0"/>
              <a:t> </a:t>
            </a:r>
            <a:r>
              <a:rPr lang="en-US" altLang="zh-CN" dirty="0"/>
              <a:t>Typically pre-training the VLM backbone and finetuning the action head on </a:t>
            </a:r>
            <a:r>
              <a:rPr lang="en-GB" dirty="0"/>
              <a:t>high-quality, robot- and task- specific data.</a:t>
            </a:r>
          </a:p>
          <a:p>
            <a:endParaRPr lang="en-GB" dirty="0"/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/>
              <a:t>Self</a:t>
            </a:r>
            <a:r>
              <a:rPr lang="en-US" altLang="zh-CN" b="1" dirty="0"/>
              <a:t>-supervised</a:t>
            </a:r>
            <a:r>
              <a:rPr lang="zh-CN" altLang="en-US" b="1" dirty="0"/>
              <a:t> </a:t>
            </a:r>
            <a:r>
              <a:rPr lang="en-US" altLang="zh-CN" b="1" dirty="0"/>
              <a:t>learning</a:t>
            </a:r>
            <a:r>
              <a:rPr lang="en-GB" dirty="0"/>
              <a:t>: serving</a:t>
            </a:r>
            <a:r>
              <a:rPr lang="zh-CN" altLang="en-US" dirty="0"/>
              <a:t> </a:t>
            </a:r>
            <a:r>
              <a:rPr lang="en-US" altLang="zh-CN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main </a:t>
            </a:r>
            <a:r>
              <a:rPr lang="en-GB" dirty="0"/>
              <a:t>purposes, Modality alignment, Visual representation learning, Latent action representation learning.</a:t>
            </a:r>
          </a:p>
          <a:p>
            <a:endParaRPr lang="en-GB" dirty="0"/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US" b="1" dirty="0">
                <a:solidFill>
                  <a:srgbClr val="172033"/>
                </a:solidFill>
              </a:rPr>
              <a:t>Reinforcement</a:t>
            </a:r>
            <a:r>
              <a:rPr lang="zh-CN" altLang="en-US" b="1" dirty="0"/>
              <a:t> </a:t>
            </a:r>
            <a:r>
              <a:rPr lang="en-US" altLang="zh-CN" b="1" dirty="0"/>
              <a:t>learning</a:t>
            </a:r>
            <a:r>
              <a:rPr lang="en-GB" dirty="0"/>
              <a:t>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DAA960-9F0D-892F-B1ED-BE9CFB6CF0A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DEBF7"/>
              </a:clrFrom>
              <a:clrTo>
                <a:srgbClr val="DDEB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0392" y="1984248"/>
            <a:ext cx="1080000" cy="8943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4AC293-3BE3-97C4-F699-01120084D86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DDEBF7"/>
              </a:clrFrom>
              <a:clrTo>
                <a:srgbClr val="DDEB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0392" y="2957070"/>
            <a:ext cx="1080000" cy="10317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16014F-7D5B-EEF1-F9B6-CD05C6CD58A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DDEBF7"/>
              </a:clrFrom>
              <a:clrTo>
                <a:srgbClr val="DDEB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0392" y="4067303"/>
            <a:ext cx="1080000" cy="10009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F863E7-AFFF-FC85-8AFD-8ADDFFA639A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22593" y="4337364"/>
            <a:ext cx="3598414" cy="177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78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B06A8-5541-070A-816C-FDCD5C1C1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D94F82-720E-A750-7C1F-640A566E0869}"/>
              </a:ext>
            </a:extLst>
          </p:cNvPr>
          <p:cNvSpPr/>
          <p:nvPr/>
        </p:nvSpPr>
        <p:spPr>
          <a:xfrm>
            <a:off x="502920" y="502920"/>
            <a:ext cx="7129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collection</a:t>
            </a:r>
            <a:endParaRPr lang="en-US" sz="3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722A3A1-2394-6626-7F26-907DAD6DB9AF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Vision-Language-Action Models for Robotics: A Review Towards Real-World Applications</a:t>
            </a:r>
            <a:endParaRPr lang="en-US" sz="12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CCC92EC2-0676-CDD5-7936-DFDB3EDBD636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</a:rPr>
              <a:t>10</a:t>
            </a:r>
            <a:endParaRPr lang="en-US" sz="9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16E12A-9112-039B-5D65-F1821103C10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1F0D9"/>
              </a:clrFrom>
              <a:clrTo>
                <a:srgbClr val="E1F0D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3150" y="2097591"/>
            <a:ext cx="2160000" cy="8967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EC157C-6258-CA5C-746B-67CD271DCF1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E1F0D9"/>
              </a:clrFrom>
              <a:clrTo>
                <a:srgbClr val="E1F0D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3150" y="3526380"/>
            <a:ext cx="2160000" cy="923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9A2B7C-678E-159F-AD17-8B2D943C782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E1F0D9"/>
              </a:clrFrom>
              <a:clrTo>
                <a:srgbClr val="E1F0D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3150" y="4978510"/>
            <a:ext cx="2160000" cy="8785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AB2FDE-B158-9224-F698-0F7FB3B4965F}"/>
              </a:ext>
            </a:extLst>
          </p:cNvPr>
          <p:cNvSpPr txBox="1"/>
          <p:nvPr/>
        </p:nvSpPr>
        <p:spPr>
          <a:xfrm>
            <a:off x="3931920" y="2084301"/>
            <a:ext cx="7385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dirty="0">
                <a:solidFill>
                  <a:srgbClr val="172033"/>
                </a:solidFill>
              </a:rPr>
              <a:t>D</a:t>
            </a:r>
            <a:r>
              <a:rPr lang="en-GB" dirty="0"/>
              <a:t>emonstrations are recorded in real time while a human operator directly controls the robot, enabling the collection of high-quality trajectories.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4FC2A9-594C-2D4A-7CE6-74725E288C9B}"/>
              </a:ext>
            </a:extLst>
          </p:cNvPr>
          <p:cNvSpPr txBox="1"/>
          <p:nvPr/>
        </p:nvSpPr>
        <p:spPr>
          <a:xfrm>
            <a:off x="3931920" y="3526528"/>
            <a:ext cx="7385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dirty="0">
                <a:solidFill>
                  <a:srgbClr val="172033"/>
                </a:solidFill>
              </a:rPr>
              <a:t>M</a:t>
            </a:r>
            <a:r>
              <a:rPr lang="en-GB" dirty="0"/>
              <a:t>ore intuitive, flexible, and scalable data collection through the use of proxy devices. For</a:t>
            </a:r>
            <a:r>
              <a:rPr lang="zh-CN" altLang="en-US" dirty="0"/>
              <a:t> </a:t>
            </a:r>
            <a:r>
              <a:rPr lang="en-US" altLang="zh-CN" dirty="0"/>
              <a:t>example, </a:t>
            </a:r>
            <a:r>
              <a:rPr lang="en-GB" dirty="0"/>
              <a:t>a handheld gripper equipped with a GoPro camera.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7A5E2-727F-B9E2-7E70-4B1042C93305}"/>
              </a:ext>
            </a:extLst>
          </p:cNvPr>
          <p:cNvSpPr txBox="1"/>
          <p:nvPr/>
        </p:nvSpPr>
        <p:spPr>
          <a:xfrm>
            <a:off x="3931920" y="4933688"/>
            <a:ext cx="7385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dirty="0">
                <a:solidFill>
                  <a:srgbClr val="172033"/>
                </a:solidFill>
              </a:rPr>
              <a:t>C</a:t>
            </a:r>
            <a:r>
              <a:rPr lang="en-GB" dirty="0"/>
              <a:t>ollecting data by recording natural human </a:t>
            </a:r>
            <a:r>
              <a:rPr lang="en-GB" dirty="0" err="1"/>
              <a:t>behavior</a:t>
            </a:r>
            <a:r>
              <a:rPr lang="en-GB" dirty="0"/>
              <a:t> without relying on proxy devices.</a:t>
            </a:r>
          </a:p>
        </p:txBody>
      </p:sp>
    </p:spTree>
    <p:extLst>
      <p:ext uri="{BB962C8B-B14F-4D97-AF65-F5344CB8AC3E}">
        <p14:creationId xmlns:p14="http://schemas.microsoft.com/office/powerpoint/2010/main" val="2102193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D12A0-139E-B9A5-4A9A-A0BAA46B2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C187C0-81E2-6CE8-D888-0505FEE29092}"/>
              </a:ext>
            </a:extLst>
          </p:cNvPr>
          <p:cNvSpPr/>
          <p:nvPr/>
        </p:nvSpPr>
        <p:spPr>
          <a:xfrm>
            <a:off x="502920" y="502920"/>
            <a:ext cx="7129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Datasets</a:t>
            </a:r>
            <a:endParaRPr lang="en-US" sz="3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30A6B00-6E66-8849-2CC6-5BF0FB828DD7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Vision-Language-Action Models for Robotics: A Review Towards Real-World Applications</a:t>
            </a:r>
            <a:endParaRPr lang="en-US" sz="12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7920C81F-34C3-76FB-42DD-FC3BDC7D057B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</a:rPr>
              <a:t>11</a:t>
            </a:r>
            <a:endParaRPr lang="en-US" sz="9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5B1E9E-DF44-2A1D-5991-C63009A4F68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08539" y="3532413"/>
            <a:ext cx="8574921" cy="21235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F2D287-D6DA-C3E0-0C7C-B236DD3D13EC}"/>
              </a:ext>
            </a:extLst>
          </p:cNvPr>
          <p:cNvSpPr txBox="1"/>
          <p:nvPr/>
        </p:nvSpPr>
        <p:spPr>
          <a:xfrm>
            <a:off x="850392" y="1662047"/>
            <a:ext cx="88778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>
                <a:solidFill>
                  <a:srgbClr val="172033"/>
                </a:solidFill>
              </a:rPr>
              <a:t>Human</a:t>
            </a:r>
            <a:r>
              <a:rPr lang="zh-CN" altLang="en-US" b="1" dirty="0">
                <a:solidFill>
                  <a:srgbClr val="172033"/>
                </a:solidFill>
              </a:rPr>
              <a:t> </a:t>
            </a:r>
            <a:r>
              <a:rPr lang="en-US" altLang="zh-CN" b="1" dirty="0">
                <a:solidFill>
                  <a:srgbClr val="172033"/>
                </a:solidFill>
              </a:rPr>
              <a:t>datasets</a:t>
            </a:r>
            <a:r>
              <a:rPr lang="en-US" altLang="zh-CN" dirty="0">
                <a:solidFill>
                  <a:srgbClr val="172033"/>
                </a:solidFill>
              </a:rPr>
              <a:t>: </a:t>
            </a:r>
            <a:r>
              <a:rPr lang="en-GB" dirty="0"/>
              <a:t>more scalable, the advent of smart-glass-based recording devices has enabled more naturalistic and unobtrusive egocentric data collection.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1A2384-9935-9B86-E931-B7C3C750EE3A}"/>
              </a:ext>
            </a:extLst>
          </p:cNvPr>
          <p:cNvSpPr txBox="1"/>
          <p:nvPr/>
        </p:nvSpPr>
        <p:spPr>
          <a:xfrm>
            <a:off x="850392" y="2432560"/>
            <a:ext cx="8877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>
                <a:solidFill>
                  <a:srgbClr val="172033"/>
                </a:solidFill>
              </a:rPr>
              <a:t>Simulation</a:t>
            </a:r>
            <a:r>
              <a:rPr lang="zh-CN" altLang="en-US" b="1" dirty="0">
                <a:solidFill>
                  <a:srgbClr val="172033"/>
                </a:solidFill>
              </a:rPr>
              <a:t> </a:t>
            </a:r>
            <a:r>
              <a:rPr lang="en-US" altLang="zh-CN" b="1" dirty="0">
                <a:solidFill>
                  <a:srgbClr val="172033"/>
                </a:solidFill>
              </a:rPr>
              <a:t>datasets</a:t>
            </a:r>
            <a:r>
              <a:rPr lang="en-US" altLang="zh-CN" dirty="0">
                <a:solidFill>
                  <a:srgbClr val="172033"/>
                </a:solidFill>
              </a:rPr>
              <a:t>: </a:t>
            </a:r>
            <a:r>
              <a:rPr lang="en-GB" dirty="0"/>
              <a:t>scalable, safe, and cost-effective.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3ADD61-D74D-A1EF-F679-1228D902411C}"/>
              </a:ext>
            </a:extLst>
          </p:cNvPr>
          <p:cNvSpPr txBox="1"/>
          <p:nvPr/>
        </p:nvSpPr>
        <p:spPr>
          <a:xfrm>
            <a:off x="850392" y="2956256"/>
            <a:ext cx="8877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/>
              <a:t>Real robot datasets</a:t>
            </a:r>
            <a:r>
              <a:rPr lang="en-US" altLang="zh-CN" dirty="0">
                <a:solidFill>
                  <a:srgbClr val="172033"/>
                </a:solidFill>
              </a:rPr>
              <a:t>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F7254B-5773-1AED-6371-FB35BB26CF8D}"/>
              </a:ext>
            </a:extLst>
          </p:cNvPr>
          <p:cNvSpPr txBox="1"/>
          <p:nvPr/>
        </p:nvSpPr>
        <p:spPr>
          <a:xfrm>
            <a:off x="1651000" y="5829598"/>
            <a:ext cx="8574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Diverse skills, tasks, robots; limited action modalities; mostly based on teleoperation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132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B6F3C-BC04-CED6-AFE9-1B22A728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0C5482-260F-D4B5-5E38-1CC0D5539E16}"/>
              </a:ext>
            </a:extLst>
          </p:cNvPr>
          <p:cNvSpPr/>
          <p:nvPr/>
        </p:nvSpPr>
        <p:spPr>
          <a:xfrm>
            <a:off x="502920" y="502920"/>
            <a:ext cx="7129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&amp; Evaluation</a:t>
            </a:r>
            <a:endParaRPr lang="en-US" sz="3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77FBB61-E95B-6318-A542-5F22B0BEBE1D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Vision-Language-Action Models for Robotics: A Review Towards Real-World Applications</a:t>
            </a:r>
            <a:endParaRPr lang="en-US" sz="12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78FB3093-FCEC-F538-2032-DF150C887DB5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</a:rPr>
              <a:t>1</a:t>
            </a:r>
            <a:r>
              <a:rPr lang="en-US" altLang="zh-CN" sz="950" b="1" dirty="0">
                <a:solidFill>
                  <a:srgbClr val="2563EB"/>
                </a:solidFill>
                <a:latin typeface="Aptos" pitchFamily="34" charset="0"/>
              </a:rPr>
              <a:t>2</a:t>
            </a:r>
            <a:endParaRPr lang="en-US" sz="9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3D95D6-EFF1-F704-8256-5CDD06631DB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1F0D9"/>
              </a:clrFrom>
              <a:clrTo>
                <a:srgbClr val="E1F0D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2191" y="1984248"/>
            <a:ext cx="1469217" cy="40709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B846D8-A0AC-57AD-3708-DCBF712D254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62450" y="3304012"/>
            <a:ext cx="6540500" cy="2784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8C97A1-DA19-5CDA-CDF3-44253AEBA854}"/>
              </a:ext>
            </a:extLst>
          </p:cNvPr>
          <p:cNvSpPr txBox="1"/>
          <p:nvPr/>
        </p:nvSpPr>
        <p:spPr>
          <a:xfrm>
            <a:off x="749300" y="1549686"/>
            <a:ext cx="317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Different robotic platforms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699E6-DA93-3D84-ADD7-BE19F70B0485}"/>
              </a:ext>
            </a:extLst>
          </p:cNvPr>
          <p:cNvSpPr txBox="1"/>
          <p:nvPr/>
        </p:nvSpPr>
        <p:spPr>
          <a:xfrm>
            <a:off x="4067810" y="1549686"/>
            <a:ext cx="79590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Benchmarks</a:t>
            </a: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dirty="0"/>
              <a:t>Evaluation metrics for VLA models remain poorly defined, particularly in real-world settings. </a:t>
            </a: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dirty="0"/>
              <a:t>Assessing generalization on physical robots is challenging due to differences in embodiment, safety concerns, and limited reproducibility. </a:t>
            </a: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dirty="0">
                <a:solidFill>
                  <a:srgbClr val="172033"/>
                </a:solidFill>
              </a:rPr>
              <a:t>M</a:t>
            </a:r>
            <a:r>
              <a:rPr lang="en-GB" dirty="0"/>
              <a:t>ost evaluations are conducted in simulation.</a:t>
            </a:r>
          </a:p>
        </p:txBody>
      </p:sp>
    </p:spTree>
    <p:extLst>
      <p:ext uri="{BB962C8B-B14F-4D97-AF65-F5344CB8AC3E}">
        <p14:creationId xmlns:p14="http://schemas.microsoft.com/office/powerpoint/2010/main" val="1987669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05B2F-407F-3698-6FDE-54086A18C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A9BB7A-23C2-5E32-5AD5-2A2BC9D5454F}"/>
              </a:ext>
            </a:extLst>
          </p:cNvPr>
          <p:cNvSpPr/>
          <p:nvPr/>
        </p:nvSpPr>
        <p:spPr>
          <a:xfrm>
            <a:off x="502920" y="502920"/>
            <a:ext cx="7129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</a:t>
            </a:r>
            <a:r>
              <a:rPr lang="zh-CN" alt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altLang="zh-CN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directions</a:t>
            </a:r>
            <a:endParaRPr lang="en-US" sz="3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DF77FD3-C151-D1EE-688A-ECA4971E31BF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Vision-Language-Action Models for Robotics: A Review Towards Real-World Applications</a:t>
            </a:r>
            <a:endParaRPr lang="en-US" sz="12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9F2F5E37-2E15-90F7-0738-E0A725DF2022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</a:rPr>
              <a:t>1</a:t>
            </a:r>
            <a:r>
              <a:rPr lang="en-US" altLang="zh-CN" sz="950" b="1" dirty="0">
                <a:solidFill>
                  <a:srgbClr val="2563EB"/>
                </a:solidFill>
                <a:latin typeface="Aptos" pitchFamily="34" charset="0"/>
              </a:rPr>
              <a:t>3</a:t>
            </a:r>
            <a:endParaRPr lang="en-US" sz="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0C13BC-B038-D31E-D331-5D2A0DC98FA4}"/>
              </a:ext>
            </a:extLst>
          </p:cNvPr>
          <p:cNvSpPr txBox="1"/>
          <p:nvPr/>
        </p:nvSpPr>
        <p:spPr>
          <a:xfrm>
            <a:off x="1261110" y="1984248"/>
            <a:ext cx="795909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/>
              <a:t>More</a:t>
            </a:r>
            <a:r>
              <a:rPr lang="zh-CN" altLang="en-US" b="1" dirty="0"/>
              <a:t> </a:t>
            </a:r>
            <a:r>
              <a:rPr lang="en-US" altLang="zh-CN" b="1" dirty="0"/>
              <a:t>data</a:t>
            </a:r>
            <a:r>
              <a:rPr lang="zh-CN" altLang="en-US" b="1" dirty="0"/>
              <a:t> </a:t>
            </a:r>
            <a:r>
              <a:rPr lang="en-US" altLang="zh-CN" b="1" dirty="0"/>
              <a:t>modalities</a:t>
            </a:r>
            <a:r>
              <a:rPr lang="en-GB" altLang="zh-CN" dirty="0"/>
              <a:t>: </a:t>
            </a:r>
            <a:r>
              <a:rPr lang="en-GB" dirty="0"/>
              <a:t>audio, tactile sensing, 3D point clouds, etc.</a:t>
            </a: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>
                <a:solidFill>
                  <a:srgbClr val="172033"/>
                </a:solidFill>
              </a:rPr>
              <a:t>L</a:t>
            </a:r>
            <a:r>
              <a:rPr lang="en-GB" b="1" dirty="0"/>
              <a:t>ong-horizon tasks</a:t>
            </a:r>
            <a:r>
              <a:rPr lang="en-GB" dirty="0"/>
              <a:t>: reasoning, maintaining a form of memory, selectively attending to key information that supports decision-making.</a:t>
            </a: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/>
              <a:t>Continual learning</a:t>
            </a:r>
            <a:r>
              <a:rPr lang="en-US" dirty="0"/>
              <a:t>: </a:t>
            </a:r>
            <a:r>
              <a:rPr lang="en-GB" dirty="0"/>
              <a:t>VLA systems remain fixed, making them vulnerable when faced with novel or out-of-distribution scenarios. </a:t>
            </a: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/>
              <a:t>Safety</a:t>
            </a:r>
            <a:r>
              <a:rPr lang="en-GB" dirty="0"/>
              <a:t>: current systems often lack mechanisms to detect and avoid unexpected human presence in the workspace, increasing the risk of collisions. </a:t>
            </a:r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/>
              <a:t>Failure detection</a:t>
            </a:r>
            <a:r>
              <a:rPr lang="en-GB" dirty="0"/>
              <a:t>: current VLA systems lack mechanisms for detecting unexpected failures or responding appropriately.</a:t>
            </a:r>
          </a:p>
        </p:txBody>
      </p:sp>
    </p:spTree>
    <p:extLst>
      <p:ext uri="{BB962C8B-B14F-4D97-AF65-F5344CB8AC3E}">
        <p14:creationId xmlns:p14="http://schemas.microsoft.com/office/powerpoint/2010/main" val="1629639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1013</Words>
  <Application>Microsoft Macintosh PowerPoint</Application>
  <PresentationFormat>Widescreen</PresentationFormat>
  <Paragraphs>111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VLA Models for Robotics — Paper Narrative</dc:title>
  <dc:subject>Vision-Language-Action Models for Robotics survey summary</dc:subject>
  <dc:creator>OpenAI</dc:creator>
  <cp:lastModifiedBy>Hanxi Yin</cp:lastModifiedBy>
  <cp:revision>2</cp:revision>
  <dcterms:created xsi:type="dcterms:W3CDTF">2026-07-06T07:38:40Z</dcterms:created>
  <dcterms:modified xsi:type="dcterms:W3CDTF">2026-07-07T12:12:39Z</dcterms:modified>
</cp:coreProperties>
</file>
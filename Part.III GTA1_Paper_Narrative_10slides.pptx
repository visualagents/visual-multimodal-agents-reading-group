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4"/>
    <p:restoredTop sz="62097"/>
  </p:normalViewPr>
  <p:slideViewPr>
    <p:cSldViewPr snapToGrid="0" snapToObjects="1">
      <p:cViewPr varScale="1">
        <p:scale>
          <a:sx n="70" d="100"/>
          <a:sy n="70" d="100"/>
        </p:scale>
        <p:origin x="2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ScreenSpot-Pro</c:v>
                </c:pt>
              </c:strCache>
            </c:strRef>
          </c:tx>
          <c:spPr>
            <a:solidFill>
              <a:srgbClr val="1C64F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Click+IoU+Format</c:v>
                </c:pt>
                <c:pt idx="1">
                  <c:v>Click+IoU</c:v>
                </c:pt>
                <c:pt idx="2">
                  <c:v>Click+Format</c:v>
                </c:pt>
                <c:pt idx="3">
                  <c:v>Click 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44.5</c:v>
                </c:pt>
                <c:pt idx="1">
                  <c:v>42.2</c:v>
                </c:pt>
                <c:pt idx="2">
                  <c:v>46.9</c:v>
                </c:pt>
                <c:pt idx="3">
                  <c:v>50.1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21-5842-86C4-B0D6C7DA09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5EAF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E5EAF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zh-CN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049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C11E-E110-7E28-86F2-7838987F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772F8-0925-FA56-39C0-DD78BC62A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CD31B-E89C-D6C8-90C5-613040AA8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Smarter choice + more aligned clicking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56F22-D98C-4E68-138C-1D9B234F4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38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Core question: can we spend more inference compute to make GUI agents more reliable?</a:t>
            </a:r>
          </a:p>
          <a:p>
            <a:endParaRPr lang="en-US" altLang="zh-CN" dirty="0"/>
          </a:p>
          <a:p>
            <a:r>
              <a:rPr lang="en-US" altLang="zh-CN" dirty="0"/>
              <a:t>GTA1’s answer is local test-time scaling: sample multiple next-action candidates, judge them, then execute one.</a:t>
            </a:r>
          </a:p>
          <a:p>
            <a:endParaRPr lang="en-US" altLang="zh-CN" dirty="0"/>
          </a:p>
          <a:p>
            <a:r>
              <a:rPr lang="en-US" altLang="zh-CN" dirty="0"/>
              <a:t>The key idea is not a larger agent; it is a more careful decision loop plus precise grounding.</a:t>
            </a:r>
          </a:p>
          <a:p>
            <a:endParaRPr lang="en-US" altLang="zh-CN" dirty="0"/>
          </a:p>
          <a:p>
            <a:r>
              <a:rPr lang="en-US" altLang="zh-CN" dirty="0"/>
              <a:t>Transition: first explain why GUI control is difficult.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mistakes transfer in the cascade, step-by-step, so crush</a:t>
            </a:r>
          </a:p>
          <a:p>
            <a:endParaRPr lang="en-US" dirty="0"/>
          </a:p>
          <a:p>
            <a:r>
              <a:rPr lang="en-US" dirty="0"/>
              <a:t>Full rollout impractical -&gt; cannot try first and then step backwards</a:t>
            </a:r>
          </a:p>
          <a:p>
            <a:endParaRPr lang="en-US" dirty="0"/>
          </a:p>
          <a:p>
            <a:r>
              <a:rPr lang="en-US" altLang="zh-CN" dirty="0"/>
              <a:t>Explain the two bottlenecks: planning uncertainty and pixel-level grounding precision.</a:t>
            </a:r>
          </a:p>
          <a:p>
            <a:endParaRPr lang="en-US" altLang="zh-CN" dirty="0"/>
          </a:p>
          <a:p>
            <a:r>
              <a:rPr lang="en-US" altLang="zh-CN" dirty="0"/>
              <a:t>Planning is hard because many action sequences can look reasonable, but one early wrong step can break the whole task.</a:t>
            </a:r>
          </a:p>
          <a:p>
            <a:endParaRPr lang="en-US" altLang="zh-CN" dirty="0"/>
          </a:p>
          <a:p>
            <a:r>
              <a:rPr lang="en-US" altLang="zh-CN" dirty="0"/>
              <a:t>Full rollout is hard in real GUIs because actions may be slow, irreversible, or change external state.</a:t>
            </a:r>
          </a:p>
          <a:p>
            <a:endParaRPr lang="en-US" altLang="zh-CN" dirty="0"/>
          </a:p>
          <a:p>
            <a:r>
              <a:rPr lang="en-US" altLang="zh-CN" dirty="0"/>
              <a:t>Grounding is hard because professional interfaces require accurate clicks, not just approximate labels.</a:t>
            </a:r>
          </a:p>
          <a:p>
            <a:endParaRPr lang="en-US" altLang="zh-CN" dirty="0"/>
          </a:p>
          <a:p>
            <a:r>
              <a:rPr lang="en-US" altLang="zh-CN" dirty="0"/>
              <a:t>Transition: previous methods usually improve only part of this pipeline.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SFT grounding -&gt; map actions to element center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SFT: supervised fine-tuning trains </a:t>
            </a:r>
            <a:r>
              <a:rPr lang="fr-FR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models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 to </a:t>
            </a:r>
            <a:r>
              <a:rPr lang="fr-FR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predict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 the exact center of </a:t>
            </a:r>
            <a:r>
              <a:rPr lang="fr-FR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target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 interface </a:t>
            </a:r>
            <a:r>
              <a:rPr lang="fr-FR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elements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Compare three families quickly: SFT grounding, modular two-stage agents, and native end-to-end agents.</a:t>
            </a:r>
          </a:p>
          <a:p>
            <a:endParaRPr lang="en-US" altLang="zh-CN" dirty="0"/>
          </a:p>
          <a:p>
            <a:r>
              <a:rPr lang="en-US" altLang="zh-CN" dirty="0"/>
              <a:t>SFT grounding often learns element centers, but in real GUI use any point inside the element can succeed.</a:t>
            </a:r>
          </a:p>
          <a:p>
            <a:endParaRPr lang="en-US" altLang="zh-CN" dirty="0"/>
          </a:p>
          <a:p>
            <a:r>
              <a:rPr lang="en-US" altLang="zh-CN" dirty="0"/>
              <a:t>End-to-end agents are powerful but harder to inspect and improve module by module.</a:t>
            </a:r>
          </a:p>
          <a:p>
            <a:endParaRPr lang="en-US" altLang="zh-CN" dirty="0"/>
          </a:p>
          <a:p>
            <a:r>
              <a:rPr lang="en-US" altLang="zh-CN" dirty="0"/>
              <a:t>GTA1 keeps the modular structure because it can improve planning selection and coordinate grounding separately.</a:t>
            </a:r>
          </a:p>
          <a:p>
            <a:endParaRPr lang="en-US" altLang="zh-CN" dirty="0"/>
          </a:p>
          <a:p>
            <a:r>
              <a:rPr lang="en-US" altLang="zh-CN" dirty="0"/>
              <a:t>Transition: now show the actual GTA1 loop.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Use the figure as the main explanation: planner proposes, judge selects, grounding model converts coordinate actions to pixels.</a:t>
            </a:r>
          </a:p>
          <a:p>
            <a:endParaRPr lang="en-US" altLang="zh-CN" dirty="0"/>
          </a:p>
          <a:p>
            <a:r>
              <a:rPr lang="en-US" altLang="zh-CN" dirty="0"/>
              <a:t>Non-coordinate actions, such as typing or hotkeys, can be executed directly.</a:t>
            </a:r>
          </a:p>
          <a:p>
            <a:endParaRPr lang="en-US" altLang="zh-CN" dirty="0"/>
          </a:p>
          <a:p>
            <a:r>
              <a:rPr lang="en-US" altLang="zh-CN" dirty="0"/>
              <a:t>Coordinate actions go through the grounding model so the click is placed inside the intended UI element.</a:t>
            </a:r>
          </a:p>
          <a:p>
            <a:endParaRPr lang="en-US" altLang="zh-CN" dirty="0"/>
          </a:p>
          <a:p>
            <a:r>
              <a:rPr lang="en-US" altLang="zh-CN" dirty="0"/>
              <a:t>Emphasize the loop: after each action, the screen changes and the next decision is made from fresh evidence.</a:t>
            </a:r>
          </a:p>
          <a:p>
            <a:endParaRPr lang="en-US" altLang="zh-CN" dirty="0"/>
          </a:p>
          <a:p>
            <a:r>
              <a:rPr lang="en-US" altLang="zh-CN" dirty="0"/>
              <a:t>Transition: the first innovation is </a:t>
            </a:r>
            <a:r>
              <a:rPr lang="en-US" altLang="zh-CN" b="1" dirty="0"/>
              <a:t>how planning is scaled at test time</a:t>
            </a:r>
            <a:r>
              <a:rPr lang="en-US" altLang="zh-C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Cascade -&gt; concurrency: Trading</a:t>
            </a:r>
            <a:r>
              <a:rPr lang="en-US" dirty="0"/>
              <a:t> computational effort </a:t>
            </a:r>
            <a:r>
              <a:rPr lang="en-US" b="1" dirty="0"/>
              <a:t>for</a:t>
            </a:r>
            <a:r>
              <a:rPr lang="en-US" dirty="0"/>
              <a:t> a more stable and shorter task execution path</a:t>
            </a:r>
          </a:p>
          <a:p>
            <a:endParaRPr lang="en-US" dirty="0"/>
          </a:p>
          <a:p>
            <a:r>
              <a:rPr lang="en-US" altLang="zh-CN" dirty="0"/>
              <a:t>Use the figure as the main explanation: planner proposes, judge selects, grounding model converts coordinate actions to pixels.</a:t>
            </a:r>
          </a:p>
          <a:p>
            <a:endParaRPr lang="en-US" altLang="zh-CN" dirty="0"/>
          </a:p>
          <a:p>
            <a:r>
              <a:rPr lang="en-US" altLang="zh-CN" dirty="0"/>
              <a:t>Non-coordinate actions, such as </a:t>
            </a:r>
            <a:r>
              <a:rPr lang="en-US" altLang="zh-CN" u="sng" dirty="0"/>
              <a:t>typing</a:t>
            </a:r>
            <a:r>
              <a:rPr lang="en-US" altLang="zh-CN" dirty="0"/>
              <a:t> or </a:t>
            </a:r>
            <a:r>
              <a:rPr lang="en-US" altLang="zh-CN" u="sng" dirty="0"/>
              <a:t>hotkeys</a:t>
            </a:r>
            <a:r>
              <a:rPr lang="en-US" altLang="zh-CN" dirty="0"/>
              <a:t>, can be executed </a:t>
            </a:r>
            <a:r>
              <a:rPr lang="en-US" altLang="zh-CN" b="1" dirty="0"/>
              <a:t>directly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Coordinate actions go through the </a:t>
            </a:r>
            <a:r>
              <a:rPr lang="en-US" altLang="zh-CN" u="sng" dirty="0"/>
              <a:t>grounding model </a:t>
            </a:r>
            <a:r>
              <a:rPr lang="en-US" altLang="zh-CN" dirty="0"/>
              <a:t>so the </a:t>
            </a:r>
            <a:r>
              <a:rPr lang="en-US" altLang="zh-CN" u="sng" dirty="0"/>
              <a:t>click</a:t>
            </a:r>
            <a:r>
              <a:rPr lang="en-US" altLang="zh-CN" dirty="0"/>
              <a:t> is placed inside the intended UI element.</a:t>
            </a:r>
          </a:p>
          <a:p>
            <a:endParaRPr lang="en-US" altLang="zh-CN" dirty="0"/>
          </a:p>
          <a:p>
            <a:r>
              <a:rPr lang="en-US" altLang="zh-CN" dirty="0"/>
              <a:t>Emphasize the loop: after each action, the screen </a:t>
            </a:r>
            <a:r>
              <a:rPr lang="en-US" altLang="zh-CN" u="sng" dirty="0"/>
              <a:t>changes</a:t>
            </a:r>
            <a:r>
              <a:rPr lang="en-US" altLang="zh-CN" dirty="0"/>
              <a:t> and the next decision is made from fresh evidence.</a:t>
            </a:r>
          </a:p>
          <a:p>
            <a:endParaRPr lang="en-US" altLang="zh-CN" dirty="0"/>
          </a:p>
          <a:p>
            <a:r>
              <a:rPr lang="en-US" altLang="zh-CN" dirty="0"/>
              <a:t>Transition: the first innovation is </a:t>
            </a:r>
            <a:r>
              <a:rPr lang="en-US" altLang="zh-CN" b="1" dirty="0"/>
              <a:t>how planning is scaled at test time</a:t>
            </a:r>
            <a:r>
              <a:rPr lang="en-US" altLang="zh-CN" dirty="0"/>
              <a:t>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Motivation: RL grounding needs </a:t>
            </a:r>
            <a:r>
              <a:rPr lang="en-US" altLang="zh-CN" u="sng" dirty="0"/>
              <a:t>reliable target boxes</a:t>
            </a:r>
            <a:r>
              <a:rPr lang="en-US" altLang="zh-CN" dirty="0"/>
              <a:t>; noisy annotations make correct clicks look wrong.</a:t>
            </a:r>
          </a:p>
          <a:p>
            <a:endParaRPr lang="en-US" altLang="zh-CN" dirty="0"/>
          </a:p>
          <a:p>
            <a:r>
              <a:rPr lang="en-US" altLang="zh-CN" dirty="0"/>
              <a:t>GTA1 cleans the data by </a:t>
            </a:r>
            <a:r>
              <a:rPr lang="en-US" altLang="zh-CN" u="sng" dirty="0"/>
              <a:t>comparing annotated boxes with visible UI boxes </a:t>
            </a:r>
            <a:r>
              <a:rPr lang="en-US" altLang="zh-CN" dirty="0"/>
              <a:t>detected by </a:t>
            </a:r>
            <a:r>
              <a:rPr lang="en-US" altLang="zh-CN" dirty="0" err="1"/>
              <a:t>OmniParser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If the best </a:t>
            </a:r>
            <a:r>
              <a:rPr lang="en-US" altLang="zh-CN" dirty="0" err="1"/>
              <a:t>IoU</a:t>
            </a:r>
            <a:r>
              <a:rPr lang="en-US" altLang="zh-CN" dirty="0"/>
              <a:t> is below the threshold </a:t>
            </a:r>
            <a:r>
              <a:rPr lang="en-US" altLang="zh-CN" dirty="0" err="1"/>
              <a:t>τ</a:t>
            </a:r>
            <a:r>
              <a:rPr lang="en-US" altLang="zh-CN" dirty="0"/>
              <a:t> = 0.3, the sample is filtered out.</a:t>
            </a:r>
          </a:p>
          <a:p>
            <a:endParaRPr lang="en-US" altLang="zh-CN" dirty="0"/>
          </a:p>
          <a:p>
            <a:r>
              <a:rPr lang="en-US" altLang="zh-CN" dirty="0"/>
              <a:t>The cleaned data makes the reward closer to the real target element rather than a mislabeled center point.</a:t>
            </a:r>
          </a:p>
          <a:p>
            <a:endParaRPr lang="en-US" altLang="zh-CN" dirty="0"/>
          </a:p>
          <a:p>
            <a:r>
              <a:rPr lang="en-US" altLang="zh-CN" dirty="0"/>
              <a:t>Transition: with cleaner boxes, the paper can </a:t>
            </a:r>
            <a:r>
              <a:rPr lang="en-US" altLang="zh-CN" b="1" dirty="0"/>
              <a:t>define a click-based reward</a:t>
            </a:r>
            <a:r>
              <a:rPr lang="en-US" altLang="zh-C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IoU</a:t>
            </a:r>
            <a:r>
              <a:rPr lang="en-US" dirty="0"/>
              <a:t> reward -&gt; </a:t>
            </a:r>
            <a:r>
              <a:rPr lang="en-US" b="1" dirty="0"/>
              <a:t>Click reward</a:t>
            </a:r>
          </a:p>
          <a:p>
            <a:endParaRPr lang="en-US" dirty="0"/>
          </a:p>
          <a:p>
            <a:r>
              <a:rPr lang="en-US" altLang="zh-CN" dirty="0"/>
              <a:t>Input is a screenshot plus an action proposal; output is a coordinate.</a:t>
            </a:r>
          </a:p>
          <a:p>
            <a:endParaRPr lang="en-US" altLang="zh-CN" dirty="0"/>
          </a:p>
          <a:p>
            <a:r>
              <a:rPr lang="en-US" altLang="zh-CN" dirty="0"/>
              <a:t>Reward is binary: 1 if the coordinate falls inside the target box, otherwise 0.</a:t>
            </a:r>
          </a:p>
          <a:p>
            <a:endParaRPr lang="en-US" altLang="zh-CN" dirty="0"/>
          </a:p>
          <a:p>
            <a:r>
              <a:rPr lang="en-US" altLang="zh-CN" dirty="0"/>
              <a:t>This directly matches GUI interaction because clicking anywhere inside the target element should work.</a:t>
            </a:r>
          </a:p>
          <a:p>
            <a:endParaRPr lang="en-US" altLang="zh-CN" dirty="0"/>
          </a:p>
          <a:p>
            <a:r>
              <a:rPr lang="en-US" altLang="zh-CN" dirty="0"/>
              <a:t>GRPO samples multiple coordinates and uses normalized rewards as advantages.</a:t>
            </a:r>
          </a:p>
          <a:p>
            <a:endParaRPr lang="en-US" altLang="zh-CN" dirty="0"/>
          </a:p>
          <a:p>
            <a:r>
              <a:rPr lang="en-US" altLang="zh-CN" dirty="0"/>
              <a:t>Emphasize that no extra chain-of-thought or bounding-box prediction is required for this static grounding task.</a:t>
            </a:r>
          </a:p>
          <a:p>
            <a:endParaRPr lang="en-US" altLang="zh-CN" dirty="0"/>
          </a:p>
          <a:p>
            <a:r>
              <a:rPr lang="en-US" altLang="zh-CN" dirty="0"/>
              <a:t>Transition: the </a:t>
            </a:r>
            <a:r>
              <a:rPr lang="en-US" altLang="zh-CN" b="1" dirty="0"/>
              <a:t>ablation</a:t>
            </a:r>
            <a:r>
              <a:rPr lang="en-US" altLang="zh-CN" dirty="0"/>
              <a:t> tests whether this </a:t>
            </a:r>
            <a:r>
              <a:rPr lang="en-US" altLang="zh-CN" b="1" dirty="0"/>
              <a:t>simple reward is enough</a:t>
            </a:r>
            <a:r>
              <a:rPr lang="en-US" altLang="zh-C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Read the chart from left to right: click-only reaches the best </a:t>
            </a:r>
            <a:r>
              <a:rPr lang="en-US" altLang="zh-CN" dirty="0" err="1"/>
              <a:t>ScreenSpot</a:t>
            </a:r>
            <a:r>
              <a:rPr lang="en-US" altLang="zh-CN" dirty="0"/>
              <a:t>-Pro accuracy in this ablation.</a:t>
            </a:r>
          </a:p>
          <a:p>
            <a:endParaRPr lang="en-US" altLang="zh-CN" dirty="0"/>
          </a:p>
          <a:p>
            <a:r>
              <a:rPr lang="en-US" altLang="zh-CN" dirty="0"/>
              <a:t>Adding </a:t>
            </a:r>
            <a:r>
              <a:rPr lang="en-US" altLang="zh-CN" dirty="0" err="1"/>
              <a:t>IoU</a:t>
            </a:r>
            <a:r>
              <a:rPr lang="en-US" altLang="zh-CN" dirty="0"/>
              <a:t> reward asks the model to predict boxes, which is an extra burden for a click task.</a:t>
            </a:r>
          </a:p>
          <a:p>
            <a:endParaRPr lang="en-US" altLang="zh-CN" dirty="0"/>
          </a:p>
          <a:p>
            <a:r>
              <a:rPr lang="en-US" altLang="zh-CN" dirty="0"/>
              <a:t>Adding format reward enforces reasoning syntax, but does not improve this static grounding setting.</a:t>
            </a:r>
          </a:p>
          <a:p>
            <a:endParaRPr lang="en-US" altLang="zh-CN" dirty="0"/>
          </a:p>
          <a:p>
            <a:r>
              <a:rPr lang="en-US" altLang="zh-CN" dirty="0"/>
              <a:t>Takeaway: </a:t>
            </a:r>
            <a:r>
              <a:rPr lang="en-US" altLang="zh-CN" b="1" dirty="0"/>
              <a:t>align</a:t>
            </a:r>
            <a:r>
              <a:rPr lang="en-US" altLang="zh-CN" dirty="0"/>
              <a:t> the training objective </a:t>
            </a:r>
            <a:r>
              <a:rPr lang="en-US" altLang="zh-CN" b="1" dirty="0"/>
              <a:t>with</a:t>
            </a:r>
            <a:r>
              <a:rPr lang="en-US" altLang="zh-CN" dirty="0"/>
              <a:t> the actual success criterion—valid clicking.</a:t>
            </a:r>
          </a:p>
          <a:p>
            <a:endParaRPr lang="en-US" altLang="zh-CN" dirty="0"/>
          </a:p>
          <a:p>
            <a:r>
              <a:rPr lang="en-US" altLang="zh-CN" dirty="0"/>
              <a:t>Transition: now return to test-time scaling and its </a:t>
            </a:r>
            <a:r>
              <a:rPr lang="en-US" altLang="zh-CN" b="1" dirty="0"/>
              <a:t>cost-performance trade-off</a:t>
            </a:r>
            <a:r>
              <a:rPr lang="en-US" altLang="zh-CN" dirty="0"/>
              <a:t>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sample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 K candidate action </a:t>
            </a:r>
            <a:r>
              <a:rPr lang="fr-FR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proposals</a:t>
            </a:r>
            <a:endParaRPr lang="fr-FR" altLang="zh-CN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  <a:p>
            <a:r>
              <a:rPr lang="en-US" altLang="zh-CN" dirty="0"/>
              <a:t>K controls how many candidate actions are sampled per step; K = 1 is the no-scaling baseline.</a:t>
            </a:r>
          </a:p>
          <a:p>
            <a:endParaRPr lang="en-US" altLang="zh-CN" dirty="0"/>
          </a:p>
          <a:p>
            <a:r>
              <a:rPr lang="en-US" altLang="zh-CN" dirty="0"/>
              <a:t>The figures show that increasing K generally improves success, especially when enough steps are allowed.</a:t>
            </a:r>
          </a:p>
          <a:p>
            <a:endParaRPr lang="en-US" altLang="zh-CN" dirty="0"/>
          </a:p>
          <a:p>
            <a:r>
              <a:rPr lang="en-US" altLang="zh-CN" dirty="0"/>
              <a:t>However, token usage also rises, so this is a compute-performance trade-off rather than a free gain.</a:t>
            </a:r>
          </a:p>
          <a:p>
            <a:endParaRPr lang="en-US" altLang="zh-CN" dirty="0"/>
          </a:p>
          <a:p>
            <a:r>
              <a:rPr lang="en-US" altLang="zh-CN" dirty="0"/>
              <a:t>K = 8 is used as a practical default in the experiments.</a:t>
            </a:r>
          </a:p>
          <a:p>
            <a:endParaRPr lang="en-US" altLang="zh-CN" dirty="0"/>
          </a:p>
          <a:p>
            <a:r>
              <a:rPr lang="en-US" altLang="zh-CN" dirty="0"/>
              <a:t>Transition: finish with the remaining failure modes and the final message.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Smarter choice + more aligned clicking</a:t>
            </a:r>
          </a:p>
          <a:p>
            <a:endParaRPr lang="en-US" dirty="0"/>
          </a:p>
          <a:p>
            <a:r>
              <a:rPr lang="en-US" altLang="zh-CN" dirty="0"/>
              <a:t>Summarize the contribution in one sentence: GTA1 improves planning through test-time candidate selection and improves grounding through click-reward RL.</a:t>
            </a:r>
          </a:p>
          <a:p>
            <a:endParaRPr lang="en-US" altLang="zh-CN" dirty="0"/>
          </a:p>
          <a:p>
            <a:r>
              <a:rPr lang="en-US" altLang="zh-CN" dirty="0"/>
              <a:t>State the boundary clearly: the judge can only choose among sampled proposals; if all candidates are wrong, selection cannot fix the step.</a:t>
            </a:r>
          </a:p>
          <a:p>
            <a:endParaRPr lang="en-US" altLang="zh-CN" dirty="0"/>
          </a:p>
          <a:p>
            <a:r>
              <a:rPr lang="en-US" altLang="zh-CN" dirty="0"/>
              <a:t>Task infeasibility or bad environment state can also cause failure.</a:t>
            </a:r>
          </a:p>
          <a:p>
            <a:endParaRPr lang="en-US" altLang="zh-CN" dirty="0"/>
          </a:p>
          <a:p>
            <a:r>
              <a:rPr lang="en-US" altLang="zh-CN" dirty="0"/>
              <a:t>Final takeaway: reliable GUI agents need both smarter “what to do next” decisions and more aligned “where to act” grounding.</a:t>
            </a:r>
          </a:p>
          <a:p>
            <a:endParaRPr lang="en-US" altLang="zh-CN" dirty="0"/>
          </a:p>
          <a:p>
            <a:r>
              <a:rPr lang="en-US" altLang="zh-CN" dirty="0"/>
              <a:t>End by connecting GTA1 to the broader theme of inference-time scaling for agents.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9403E-F47E-9BDE-B55C-0CA4A488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8012BBF-EA6D-635F-7414-C25BE91796DD}"/>
              </a:ext>
            </a:extLst>
          </p:cNvPr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1/13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96BC8F-D460-4C77-7623-6EEFCE2A431A}"/>
              </a:ext>
            </a:extLst>
          </p:cNvPr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0F0AC8-9AC1-7E5D-F8B3-01AEEBA15D26}"/>
              </a:ext>
            </a:extLst>
          </p:cNvPr>
          <p:cNvSpPr/>
          <p:nvPr/>
        </p:nvSpPr>
        <p:spPr>
          <a:xfrm>
            <a:off x="342900" y="1914478"/>
            <a:ext cx="115062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00" b="1" dirty="0">
                <a:solidFill>
                  <a:srgbClr val="1C64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GTA1</a:t>
            </a:r>
            <a:r>
              <a:rPr lang="en-US" altLang="zh-CN" sz="4200" b="1" dirty="0">
                <a:solidFill>
                  <a:srgbClr val="1C64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</a:t>
            </a:r>
            <a:r>
              <a:rPr lang="zh-CN" altLang="en-US" sz="4200" b="1" dirty="0">
                <a:solidFill>
                  <a:srgbClr val="1C64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fr-FR" altLang="zh-CN" sz="4200" b="1" dirty="0">
                <a:solidFill>
                  <a:srgbClr val="1C64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 GUI TEST-TIME SCALING AGENT</a:t>
            </a:r>
          </a:p>
          <a:p>
            <a:endParaRPr lang="en-US" sz="4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C817E46-D3C1-44D0-77D6-B596C310397A}"/>
              </a:ext>
            </a:extLst>
          </p:cNvPr>
          <p:cNvSpPr/>
          <p:nvPr/>
        </p:nvSpPr>
        <p:spPr>
          <a:xfrm>
            <a:off x="4523232" y="5015389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9AEBECB-5BB2-71D3-2BF8-73964EDBDBB9}"/>
              </a:ext>
            </a:extLst>
          </p:cNvPr>
          <p:cNvSpPr/>
          <p:nvPr/>
        </p:nvSpPr>
        <p:spPr>
          <a:xfrm>
            <a:off x="4642104" y="5106829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64F2"/>
                </a:solidFill>
              </a:rPr>
              <a:t>ICLR 2026</a:t>
            </a:r>
            <a:endParaRPr 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6227A7-C294-B4D7-6568-98C6ED85B24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9800" y="2968371"/>
            <a:ext cx="7772400" cy="154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1/13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64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GTA1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GUI Test-Time Scaling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21407"/>
            <a:ext cx="3343275" cy="158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a GUI agent trade </a:t>
            </a:r>
            <a:r>
              <a:rPr lang="en-US" sz="2000" b="1" u="sng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 compute </a:t>
            </a: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more reliable </a:t>
            </a:r>
            <a:r>
              <a:rPr lang="en-US" sz="2000" b="1" u="sng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use</a:t>
            </a: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731520" y="4336542"/>
            <a:ext cx="10332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GTA1 answers yes: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sample several next actions, judge them, then ground the chosen action precisely.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540639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0392" y="5497830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64F2"/>
                </a:solidFill>
              </a:rPr>
              <a:t>Planning uncertainty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34840" y="540639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53712" y="5497830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Grounding precision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38160" y="540639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57032" y="5497830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</a:rPr>
              <a:t>Task success</a:t>
            </a:r>
            <a:endParaRPr lang="en-US" sz="16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68FDF4E-9C8A-C4A3-DDB2-EA2A5A02F98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87952" y="600138"/>
            <a:ext cx="7772400" cy="36906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2/13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are GUI agents hard to make reliable?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338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They must choose the right next step in a </a:t>
            </a:r>
            <a:r>
              <a:rPr lang="en-US" sz="2000" b="1" u="sng" dirty="0">
                <a:solidFill>
                  <a:srgbClr val="1C64F2"/>
                </a:solidFill>
              </a:rPr>
              <a:t>huge action space </a:t>
            </a:r>
            <a:r>
              <a:rPr lang="en-US" sz="2000" b="1" dirty="0">
                <a:solidFill>
                  <a:srgbClr val="1C64F2"/>
                </a:solidFill>
              </a:rPr>
              <a:t>and click the right pixels on </a:t>
            </a:r>
            <a:r>
              <a:rPr lang="en-US" sz="2000" b="1" u="sng" dirty="0">
                <a:solidFill>
                  <a:srgbClr val="1C64F2"/>
                </a:solidFill>
              </a:rPr>
              <a:t>changing screens</a:t>
            </a:r>
            <a:r>
              <a:rPr lang="en-US" sz="2000" b="1" dirty="0">
                <a:solidFill>
                  <a:srgbClr val="1C64F2"/>
                </a:solidFill>
              </a:rPr>
              <a:t>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223135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8E7FF"/>
          </a:solidFill>
          <a:ln w="12700">
            <a:solidFill>
              <a:srgbClr val="D8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314575"/>
            <a:ext cx="1682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User task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2223135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2314575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Many possible plans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2223135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2314575"/>
            <a:ext cx="20482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</a:rPr>
              <a:t>No safe lookahead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0" y="2223135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62872" y="2314575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</a:rPr>
              <a:t>Precise UI click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24912" y="2277999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738A"/>
                </a:solidFill>
              </a:rPr>
              <a:t>➜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33872" y="2277999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738A"/>
                </a:solidFill>
              </a:rPr>
              <a:t>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32520" y="2277999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738A"/>
                </a:solidFill>
              </a:rPr>
              <a:t>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110185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02A43"/>
                </a:solidFill>
              </a:rPr>
              <a:t>Planning</a:t>
            </a:r>
            <a:r>
              <a:rPr lang="en-US" sz="2000" dirty="0">
                <a:solidFill>
                  <a:srgbClr val="102A43"/>
                </a:solidFill>
              </a:rPr>
              <a:t>: </a:t>
            </a:r>
            <a:r>
              <a:rPr lang="en-US" sz="2000" u="sng" dirty="0">
                <a:solidFill>
                  <a:srgbClr val="102A43"/>
                </a:solidFill>
              </a:rPr>
              <a:t>multiple valid action sequences </a:t>
            </a:r>
            <a:r>
              <a:rPr lang="en-US" sz="2000" dirty="0">
                <a:solidFill>
                  <a:srgbClr val="102A43"/>
                </a:solidFill>
              </a:rPr>
              <a:t>may exist, but early mistakes </a:t>
            </a:r>
            <a:r>
              <a:rPr lang="en-US" sz="2000" u="sng" dirty="0">
                <a:solidFill>
                  <a:srgbClr val="102A43"/>
                </a:solidFill>
              </a:rPr>
              <a:t>cascade</a:t>
            </a:r>
            <a:r>
              <a:rPr lang="en-US" sz="2000" dirty="0">
                <a:solidFill>
                  <a:srgbClr val="102A43"/>
                </a:solidFill>
              </a:rPr>
              <a:t>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02A43"/>
                </a:solidFill>
              </a:rPr>
              <a:t>Environment</a:t>
            </a:r>
            <a:r>
              <a:rPr lang="en-US" sz="2000" dirty="0">
                <a:solidFill>
                  <a:srgbClr val="102A43"/>
                </a:solidFill>
              </a:rPr>
              <a:t>: real GUI actions can be </a:t>
            </a:r>
            <a:r>
              <a:rPr lang="en-US" sz="2000" u="sng" dirty="0">
                <a:solidFill>
                  <a:srgbClr val="102A43"/>
                </a:solidFill>
              </a:rPr>
              <a:t>irreversible</a:t>
            </a:r>
            <a:r>
              <a:rPr lang="en-US" sz="2000" dirty="0">
                <a:solidFill>
                  <a:srgbClr val="102A43"/>
                </a:solidFill>
              </a:rPr>
              <a:t>, so full rollout lookahead is impractical.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02A43"/>
                </a:solidFill>
              </a:rPr>
              <a:t>Grounding</a:t>
            </a:r>
            <a:r>
              <a:rPr lang="en-US" sz="2000" dirty="0">
                <a:solidFill>
                  <a:srgbClr val="102A43"/>
                </a:solidFill>
              </a:rPr>
              <a:t>: high-resolution professional </a:t>
            </a:r>
            <a:r>
              <a:rPr lang="en-US" sz="2000" u="sng" dirty="0">
                <a:solidFill>
                  <a:srgbClr val="102A43"/>
                </a:solidFill>
              </a:rPr>
              <a:t>interfaces</a:t>
            </a:r>
            <a:r>
              <a:rPr lang="en-US" sz="2000" dirty="0">
                <a:solidFill>
                  <a:srgbClr val="102A43"/>
                </a:solidFill>
              </a:rPr>
              <a:t> require accurate coordinates.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11018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Core tension: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robust decisions require more exploration, but GUI execution is step-by-step.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3/13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 earlier GUI approaches leave room for improvement?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SFT grounding overfits to element centers, while end-to-end native agents are powerful but hard to inspect.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912511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2003951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SFT grounding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912511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2003951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64F2"/>
                </a:solidFill>
              </a:rPr>
              <a:t>Two-stage agents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49640" y="1912511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68512" y="2003951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Native/end-to-end agents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Optimizes </a:t>
            </a:r>
            <a:r>
              <a:rPr lang="en-US" sz="2000" u="sng" dirty="0">
                <a:solidFill>
                  <a:srgbClr val="102A43"/>
                </a:solidFill>
              </a:rPr>
              <a:t>exact center points </a:t>
            </a:r>
            <a:r>
              <a:rPr lang="en-US" sz="2000" dirty="0">
                <a:solidFill>
                  <a:srgbClr val="102A43"/>
                </a:solidFill>
              </a:rPr>
              <a:t>even though </a:t>
            </a:r>
            <a:r>
              <a:rPr lang="en-US" sz="2000" u="sng" dirty="0">
                <a:solidFill>
                  <a:srgbClr val="102A43"/>
                </a:solidFill>
              </a:rPr>
              <a:t>any coordinate </a:t>
            </a:r>
            <a:r>
              <a:rPr lang="en-US" sz="2000" dirty="0">
                <a:solidFill>
                  <a:srgbClr val="102A43"/>
                </a:solidFill>
              </a:rPr>
              <a:t>inside the target element works.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Separates planner and grounding model; easier to improve each module </a:t>
            </a:r>
            <a:r>
              <a:rPr lang="en-US" sz="2000" u="sng" dirty="0">
                <a:solidFill>
                  <a:srgbClr val="102A43"/>
                </a:solidFill>
              </a:rPr>
              <a:t>independently</a:t>
            </a:r>
            <a:r>
              <a:rPr lang="en-US" sz="2000" dirty="0">
                <a:solidFill>
                  <a:srgbClr val="102A43"/>
                </a:solidFill>
              </a:rPr>
              <a:t>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Completes tasks </a:t>
            </a:r>
            <a:r>
              <a:rPr lang="en-US" sz="2000" u="sng" dirty="0">
                <a:solidFill>
                  <a:srgbClr val="102A43"/>
                </a:solidFill>
              </a:rPr>
              <a:t>end-to-end</a:t>
            </a:r>
            <a:r>
              <a:rPr lang="en-US" sz="2000" dirty="0">
                <a:solidFill>
                  <a:srgbClr val="102A43"/>
                </a:solidFill>
              </a:rPr>
              <a:t> with perception, memory, planning, and action in </a:t>
            </a:r>
            <a:r>
              <a:rPr lang="en-US" sz="2000" u="sng" dirty="0">
                <a:solidFill>
                  <a:srgbClr val="102A43"/>
                </a:solidFill>
              </a:rPr>
              <a:t>one agent</a:t>
            </a:r>
            <a:r>
              <a:rPr lang="en-US" sz="2000" dirty="0">
                <a:solidFill>
                  <a:srgbClr val="102A43"/>
                </a:solidFill>
              </a:rPr>
              <a:t>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GTA1 keeps the modular two-stage form, then strengthens both weak links: </a:t>
            </a:r>
            <a:r>
              <a:rPr lang="en-US" sz="2400" b="1" u="sng" dirty="0">
                <a:solidFill>
                  <a:srgbClr val="102A43"/>
                </a:solidFill>
              </a:rPr>
              <a:t>planning selection </a:t>
            </a:r>
            <a:r>
              <a:rPr lang="en-US" sz="2400" b="1" dirty="0">
                <a:solidFill>
                  <a:srgbClr val="102A43"/>
                </a:solidFill>
              </a:rPr>
              <a:t>and </a:t>
            </a:r>
            <a:r>
              <a:rPr lang="en-US" sz="2400" b="1" u="sng" dirty="0">
                <a:solidFill>
                  <a:srgbClr val="102A43"/>
                </a:solidFill>
              </a:rPr>
              <a:t>coordinate grounding</a:t>
            </a:r>
            <a:r>
              <a:rPr lang="en-US" sz="2400" b="1" dirty="0">
                <a:solidFill>
                  <a:srgbClr val="102A43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4/13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core design of GTA1?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3385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u="sng" dirty="0">
                <a:solidFill>
                  <a:srgbClr val="1C64F2"/>
                </a:solidFill>
              </a:rPr>
              <a:t>A planner </a:t>
            </a:r>
            <a:r>
              <a:rPr lang="en-US" sz="1700" b="1" dirty="0">
                <a:solidFill>
                  <a:srgbClr val="1C64F2"/>
                </a:solidFill>
              </a:rPr>
              <a:t>proposes actions; </a:t>
            </a:r>
            <a:r>
              <a:rPr lang="en-US" sz="1700" b="1" u="sng" dirty="0">
                <a:solidFill>
                  <a:srgbClr val="1C64F2"/>
                </a:solidFill>
              </a:rPr>
              <a:t>a judge </a:t>
            </a:r>
            <a:r>
              <a:rPr lang="en-US" sz="1700" b="1" dirty="0">
                <a:solidFill>
                  <a:srgbClr val="1C64F2"/>
                </a:solidFill>
              </a:rPr>
              <a:t>selects one; </a:t>
            </a:r>
            <a:r>
              <a:rPr lang="en-US" sz="1700" b="1" u="sng" dirty="0">
                <a:solidFill>
                  <a:srgbClr val="1C64F2"/>
                </a:solidFill>
              </a:rPr>
              <a:t>a grounding model </a:t>
            </a:r>
            <a:r>
              <a:rPr lang="en-US" sz="1700" b="1" dirty="0">
                <a:solidFill>
                  <a:srgbClr val="1C64F2"/>
                </a:solidFill>
              </a:rPr>
              <a:t>maps coordinate actions to pixels.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40965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1738A"/>
                </a:solidFill>
              </a:rPr>
              <a:t>Paper Fig. 2: planner samples candidate action proposals; judge selects; grounding model executes coordinate actions.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5840" y="4709160"/>
            <a:ext cx="9966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Coordinate-based actions, such as clicks, are sent to the grounding model.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Non-coordinate actions, such as hotkeys or typing, can be executed directly.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The loop repeats until task completion or termination.</a:t>
            </a:r>
            <a:endParaRPr lang="en-US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6990E7-9763-3CF3-4D2B-9E64B456C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45336"/>
            <a:ext cx="11328309" cy="2363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5/13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test-time scaling improve planning without lookahead?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3385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It explores local alternatives at each step rather than rolling out full trajectories.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931829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2023269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64F2"/>
                </a:solidFill>
              </a:rPr>
              <a:t>1. Sample K proposals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931829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2023269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2. Judge current fit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0" y="1931829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1352" y="2023269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3. Execute one 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2050701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38A"/>
                </a:solidFill>
              </a:rPr>
              <a:t>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2050701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38A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0632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Context = user instruction + past trajectory + current screenshot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0352" y="3794760"/>
            <a:ext cx="10808208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The judge evaluates alignment with user intent and current GUI state.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102A43"/>
                </a:solidFill>
              </a:rPr>
              <a:t>Concurrency</a:t>
            </a:r>
            <a:r>
              <a:rPr lang="en-US" sz="2000" dirty="0">
                <a:solidFill>
                  <a:srgbClr val="102A43"/>
                </a:solidFill>
              </a:rPr>
              <a:t> makes K proposals a compute-time tradeoff rather than a long sequential rollout.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This reduces overcommitment to a single weak action proposal.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Default in experiments: K = 8 action proposals per step.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6/13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clean grounding data before RL training?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3385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C64F2"/>
                </a:solidFill>
              </a:rPr>
              <a:t>Click rewards need accurate target boxes; noisy boxes make correct clicks look wrong.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992682" y="3831658"/>
            <a:ext cx="58429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1738A"/>
                </a:solidFill>
              </a:rPr>
              <a:t>Paper Fig. 3: annotation boxes can be misaligned with the rendered UI; cleaning filters them out.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0352" y="1693958"/>
            <a:ext cx="4271536" cy="24577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Use </a:t>
            </a:r>
            <a:r>
              <a:rPr lang="en-US" sz="2000" i="1" dirty="0">
                <a:solidFill>
                  <a:srgbClr val="102A43"/>
                </a:solidFill>
              </a:rPr>
              <a:t>OmniParser</a:t>
            </a:r>
            <a:r>
              <a:rPr lang="en-US" sz="2000" dirty="0">
                <a:solidFill>
                  <a:srgbClr val="102A43"/>
                </a:solidFill>
              </a:rPr>
              <a:t> to detect visible UI element boxes in each screenshot.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Compare the annotated box with detected boxes using maximum IoU.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Discard a sample when max IoU &lt; τ; the paper uses τ = 0.3.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30352" y="4490122"/>
            <a:ext cx="10424160" cy="92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Resulting training signal: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“inside the actual UI element” instead of “match a potentially wrong center point.”</a:t>
            </a:r>
            <a:endParaRPr 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A709C0A-3753-1150-19CC-E35E9EAEC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82" y="1785527"/>
            <a:ext cx="7009942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7/13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is RL grounding aligned with real clicking?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3385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The model is rewarded for predicting any valid click point inside the target element.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Input: screenshot s + action proposal 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Output: coordinate o = (x, y)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80160" y="2788920"/>
            <a:ext cx="9601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CD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00200" y="309067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64F2"/>
                </a:solidFill>
              </a:rPr>
              <a:t>reward r = 1  if  xmin ≤ x ≤ xmax  and  ymin ≤ y ≤ ymax;  otherwise r = 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4434840"/>
            <a:ext cx="10624426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GRPO samples N responses per input and normalizes binary rewards into advantages.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No mandatory </a:t>
            </a:r>
            <a:r>
              <a:rPr lang="en-US" sz="2000" u="sng" dirty="0">
                <a:solidFill>
                  <a:srgbClr val="102A43"/>
                </a:solidFill>
              </a:rPr>
              <a:t>chain-of-thought</a:t>
            </a:r>
            <a:r>
              <a:rPr lang="en-US" sz="2000" dirty="0">
                <a:solidFill>
                  <a:srgbClr val="102A43"/>
                </a:solidFill>
              </a:rPr>
              <a:t> or </a:t>
            </a:r>
            <a:r>
              <a:rPr lang="en-US" sz="2000" u="sng" dirty="0">
                <a:solidFill>
                  <a:srgbClr val="102A43"/>
                </a:solidFill>
              </a:rPr>
              <a:t>bounding-box prediction</a:t>
            </a:r>
            <a:r>
              <a:rPr lang="en-US" sz="2000" dirty="0">
                <a:solidFill>
                  <a:srgbClr val="102A43"/>
                </a:solidFill>
              </a:rPr>
              <a:t> is needed for static grounding.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The objective matches GUI interaction: </a:t>
            </a:r>
            <a:r>
              <a:rPr lang="en-US" sz="2000" b="1" dirty="0">
                <a:solidFill>
                  <a:srgbClr val="102A43"/>
                </a:solidFill>
              </a:rPr>
              <a:t>clicking anywhere inside the target </a:t>
            </a:r>
            <a:r>
              <a:rPr lang="en-US" sz="2000" dirty="0">
                <a:solidFill>
                  <a:srgbClr val="102A43"/>
                </a:solidFill>
              </a:rPr>
              <a:t>should succeed.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10/13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reward design works best for grounding?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338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Click-only reward is the simplest and strongest overall design in the paper’s ablation.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822960" y="1828800"/>
          <a:ext cx="52120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1005840" y="5330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1738A"/>
                </a:solidFill>
              </a:rPr>
              <a:t>ScreenSpot-Pro accuracy (%)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583680" y="2057400"/>
            <a:ext cx="4297680" cy="3273552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037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Ablation lesson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83680" y="2606040"/>
            <a:ext cx="4297680" cy="25326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02A43"/>
                </a:solidFill>
              </a:rPr>
              <a:t>Bounding-box </a:t>
            </a:r>
            <a:r>
              <a:rPr lang="en-US" sz="2000" u="sng" dirty="0">
                <a:solidFill>
                  <a:srgbClr val="102A43"/>
                </a:solidFill>
              </a:rPr>
              <a:t>IoU reward </a:t>
            </a:r>
            <a:r>
              <a:rPr lang="en-US" sz="2000" dirty="0">
                <a:solidFill>
                  <a:srgbClr val="102A43"/>
                </a:solidFill>
              </a:rPr>
              <a:t>adds extra prediction burden.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102A43"/>
                </a:solidFill>
              </a:rPr>
              <a:t>Format reward </a:t>
            </a:r>
            <a:r>
              <a:rPr lang="en-US" sz="2000" dirty="0">
                <a:solidFill>
                  <a:srgbClr val="102A43"/>
                </a:solidFill>
              </a:rPr>
              <a:t>enforces reasoning syntax but does not improve static grounding.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02A43"/>
                </a:solidFill>
              </a:rPr>
              <a:t>Click reward </a:t>
            </a:r>
            <a:r>
              <a:rPr lang="en-US" sz="2000" dirty="0">
                <a:solidFill>
                  <a:srgbClr val="102A43"/>
                </a:solidFill>
              </a:rPr>
              <a:t>directly matches the GUI success criterion.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11/13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far should test-time scaling go?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978408"/>
            <a:ext cx="8504178" cy="680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More candidate actions generally improve success, but token cost rises; the paper uses K = 8 by default.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20883" y="1771608"/>
            <a:ext cx="3416765" cy="1108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1738A"/>
                </a:solidFill>
              </a:rPr>
              <a:t>Paper Fig. 4: success rate increases with more candidate proposals K across step horizons.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20883" y="4074257"/>
            <a:ext cx="3416765" cy="800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1738A"/>
                </a:solidFill>
              </a:rPr>
              <a:t>Paper Fig. 5: higher K consumes more tokens per task, creating a compute-performance tradeoff.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05840" y="4778062"/>
            <a:ext cx="10058400" cy="187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02A43"/>
                </a:solidFill>
              </a:rPr>
              <a:t>K = 1 is the no-scaling baseline.</a:t>
            </a:r>
            <a:endParaRPr lang="en-US" sz="2000" dirty="0"/>
          </a:p>
          <a:p>
            <a:r>
              <a:rPr lang="en-US" sz="2000" dirty="0">
                <a:solidFill>
                  <a:srgbClr val="102A43"/>
                </a:solidFill>
              </a:rPr>
              <a:t>K = 8/16/32 explores more local alternatives concurrently.</a:t>
            </a:r>
            <a:endParaRPr lang="en-US" sz="2000" dirty="0"/>
          </a:p>
          <a:p>
            <a:r>
              <a:rPr lang="en-US" sz="2000" dirty="0">
                <a:solidFill>
                  <a:srgbClr val="102A43"/>
                </a:solidFill>
              </a:rPr>
              <a:t>Best horizon is task-dependent: too few steps cannot finish; too many dilute the gain.</a:t>
            </a:r>
            <a:endParaRPr lang="en-US" sz="2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C718F80-BFA3-7520-C7D3-73E8FDAD24B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638" y="1609407"/>
            <a:ext cx="6494401" cy="16529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AE32DBD-7CB4-CADC-F42B-7273A190B61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638" y="3471400"/>
            <a:ext cx="6494401" cy="1688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GTA1 - GUI Test-Time Scaling Agent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01400" y="164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38A"/>
                </a:solidFill>
              </a:rPr>
              <a:t>13/13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5624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1738A"/>
                </a:solidFill>
              </a:rPr>
              <a:t>Source: Yang et al., GTA1: GUI Test-Time Scaling Agent, ICLR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still fails, and what should we remember?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95059" y="1061081"/>
            <a:ext cx="11640247" cy="63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GTA1 improves local decision quality, but a judge cannot select a correct action if none of the proposals are valid.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95059" y="5755821"/>
            <a:ext cx="5885001" cy="6498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1738A"/>
                </a:solidFill>
              </a:rPr>
              <a:t>Paper Fig. 7: failure cases occur when every sampled proposal is wrong or the task is infeasible.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44744" y="1410237"/>
            <a:ext cx="4659576" cy="32583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50" b="1" dirty="0">
                <a:solidFill>
                  <a:srgbClr val="102A43"/>
                </a:solidFill>
              </a:rPr>
              <a:t>Main contribution</a:t>
            </a:r>
            <a:r>
              <a:rPr lang="en-US" sz="1650" dirty="0">
                <a:solidFill>
                  <a:srgbClr val="102A43"/>
                </a:solidFill>
              </a:rPr>
              <a:t>: </a:t>
            </a:r>
          </a:p>
          <a:p>
            <a:r>
              <a:rPr lang="en-US" sz="1650" dirty="0">
                <a:solidFill>
                  <a:srgbClr val="102A43"/>
                </a:solidFill>
              </a:rPr>
              <a:t>test-time scaling for planning + click-reward RL for grounding.</a:t>
            </a:r>
            <a:endParaRPr lang="en-US" sz="1650" dirty="0"/>
          </a:p>
          <a:p>
            <a:r>
              <a:rPr lang="en-US" sz="1650" b="1" dirty="0">
                <a:solidFill>
                  <a:srgbClr val="102A43"/>
                </a:solidFill>
              </a:rPr>
              <a:t>Key result</a:t>
            </a:r>
            <a:r>
              <a:rPr lang="en-US" sz="1650" dirty="0">
                <a:solidFill>
                  <a:srgbClr val="102A43"/>
                </a:solidFill>
              </a:rPr>
              <a:t>: </a:t>
            </a:r>
          </a:p>
          <a:p>
            <a:r>
              <a:rPr lang="en-US" sz="1650" dirty="0">
                <a:solidFill>
                  <a:srgbClr val="102A43"/>
                </a:solidFill>
              </a:rPr>
              <a:t>strong grounding and task-execution gains with a modular two-stage agent.</a:t>
            </a:r>
            <a:endParaRPr lang="en-US" sz="1650" dirty="0"/>
          </a:p>
          <a:p>
            <a:r>
              <a:rPr lang="en-US" sz="1650" b="1" dirty="0">
                <a:solidFill>
                  <a:srgbClr val="102A43"/>
                </a:solidFill>
              </a:rPr>
              <a:t>Main limitation</a:t>
            </a:r>
            <a:r>
              <a:rPr lang="en-US" sz="1650" dirty="0">
                <a:solidFill>
                  <a:srgbClr val="102A43"/>
                </a:solidFill>
              </a:rPr>
              <a:t>: </a:t>
            </a:r>
          </a:p>
          <a:p>
            <a:r>
              <a:rPr lang="en-US" sz="1650" dirty="0">
                <a:solidFill>
                  <a:srgbClr val="102A43"/>
                </a:solidFill>
              </a:rPr>
              <a:t>proposal quality and task feasibility still bound the entire system.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044744" y="4303474"/>
            <a:ext cx="4507606" cy="17772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Takeaway: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robust GUI agents need both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better “what to do next” selection and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C64F2"/>
                </a:solidFill>
              </a:rPr>
              <a:t>better “where to act” grounding.</a:t>
            </a:r>
            <a:endParaRPr 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683D562-B1F8-BC54-4035-EE93349ADF5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4931" y="1783457"/>
            <a:ext cx="6083824" cy="40442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2059</Words>
  <Application>Microsoft Macintosh PowerPoint</Application>
  <PresentationFormat>宽屏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Helvetica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GTA1: GUI Test-Time Scaling Agent - Paper Narrative</dc:title>
  <dc:subject>GTA1: GUI Test-Time Scaling Agent</dc:subject>
  <dc:creator>OpenAI</dc:creator>
  <cp:lastModifiedBy>Jincheng Li</cp:lastModifiedBy>
  <cp:revision>34</cp:revision>
  <dcterms:created xsi:type="dcterms:W3CDTF">2026-07-06T07:07:50Z</dcterms:created>
  <dcterms:modified xsi:type="dcterms:W3CDTF">2026-07-09T14:35:23Z</dcterms:modified>
</cp:coreProperties>
</file>